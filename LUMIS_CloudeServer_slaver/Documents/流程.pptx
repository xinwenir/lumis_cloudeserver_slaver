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9" r:id="rId3"/>
    <p:sldId id="260" r:id="rId4"/>
    <p:sldId id="261" r:id="rId5"/>
    <p:sldId id="262" r:id="rId6"/>
    <p:sldId id="263" r:id="rId7"/>
    <p:sldId id="256" r:id="rId8"/>
    <p:sldId id="257" r:id="rId9"/>
    <p:sldId id="258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257B6-F69F-4708-A1BB-99AF8183D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60576C-4470-4219-A3B9-62640C1F6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B46E2C-2DE7-4BEE-8046-D55C2EA34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C17BA7-A171-41DB-8AAF-D73C5848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5BB78-C79F-4BF3-BA23-3D3424A6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7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DC8CC-847B-43DD-A14B-81720167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389BE-EC51-4A79-A232-8F8D8A358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69D3B4-BE27-4679-8B8E-5ABBB172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D6997-3B73-452D-83E3-C989EDCB7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2CCDD4-7593-480F-A96E-2196B836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93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2C07E-A165-42F8-AF84-8750F9E1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A652AB-BFDE-4486-B983-C7911C736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473102-01B2-438C-BF5E-0F7492271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3FAF7C-B216-41DA-BF63-0F841248E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7DA44D-2FDF-4B8B-9930-20E3B9A80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438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24003B-5B87-4554-8F06-0B3B3CB7F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1B7AA-C88E-4257-A3A0-CFE4E586B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292C2A-D45F-41D7-ACA2-9B2A127D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DE89F4-7CF9-4C90-A52A-A0F27419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6ED934-4B97-430F-B6EB-A87F654E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BBE058-4582-4793-94B7-681DED8E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726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49AB8-6BF3-45DC-B4C8-522D1562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1AF5D4-1BA4-4B0D-BEF0-C31047664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C4A037-B138-4517-BFC6-56E2C358F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BEBFBA-35B1-42CA-A024-CC54042AB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A3979A-9A84-4006-8E1B-3FFE54F94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07506-5344-4AFA-949D-B8BCE45C8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E05BBF-79DD-470B-803F-77124A468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C50516-CB13-4B34-87A4-46F9E0C4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41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20130-3CD0-4ED0-AAE3-199BB85D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C74C38-82AA-45AC-B77A-C8E634404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72158C-606E-4506-977D-6DDA4630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ED9EC2-8003-4E85-8A41-E2B5780E1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28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BB70AA-5C8D-4659-B481-65133A2E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C68BF6-0868-40BC-B756-15788F047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9A5C2-73F0-4960-968F-415CD8E5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92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05190-34C3-43B6-9301-76653DEB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7924A-8BB2-427B-84B5-475720FB1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1FFF66-6242-49D6-B617-EF4B95DB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831489-4A0C-4A3A-8BD7-F036BFED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13726E-47E3-49EA-9E90-23EBF917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2A078A-5DE2-4429-87A9-EB8F1049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23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15245-C735-45E4-9CB7-CAFFBAD2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0B341F-8ABF-439E-934E-60904F2AE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F7EEE2-25CF-4FEE-8505-FA3F4E67A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974D10-00CD-4D23-8574-EDABA45E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3AEB4D-6EAE-4512-93E5-9F58D10B0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CBB0D7-0BF0-4277-8EE1-E2449A23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31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EBC78-1B05-4823-A90F-F2D82F67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7D31E3-DA4D-4B41-8F23-ED1887935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59EAC-1C25-48B7-A971-35FAB7CF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9ABCB7-6756-4D57-849B-2F0625B30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3E8A8C-FD2A-4242-BF72-44479532E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43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0FD59E-AE72-4B84-9AEC-AA0474CBF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8485D0-87B7-4A58-85F0-31B622105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292FD8-6132-481E-855F-9C071B1F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046AE5-7718-4164-B6FB-FF9319C1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074A07-D74C-49F1-826F-D2494D64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0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140D87-B5B1-4D49-8A3F-A096A9BF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025E99-DA06-4DEE-8C42-3DFB58422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96C134-E3A7-49D5-8E93-E4376DA21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CFDC9-46E2-4C73-BEC3-383CCA4F3015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0267CB-DC5A-40F8-8E32-25B40F8D9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638D73-5B47-408C-B294-3ADBA5D2F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09C66-52F4-4B0C-8BD7-777EF3002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39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DD474BD-8F37-4F1D-B6EC-9D28CE5678B5}"/>
              </a:ext>
            </a:extLst>
          </p:cNvPr>
          <p:cNvSpPr/>
          <p:nvPr/>
        </p:nvSpPr>
        <p:spPr>
          <a:xfrm>
            <a:off x="0" y="-1142"/>
            <a:ext cx="5371253" cy="455029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FPGA Data acquisition board (DAQ)---PLATE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4" name="表格 114">
            <a:extLst>
              <a:ext uri="{FF2B5EF4-FFF2-40B4-BE49-F238E27FC236}">
                <a16:creationId xmlns:a16="http://schemas.microsoft.com/office/drawing/2014/main" id="{D9B8F682-A24C-4579-AB32-5276CF997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911458"/>
              </p:ext>
            </p:extLst>
          </p:nvPr>
        </p:nvGraphicFramePr>
        <p:xfrm>
          <a:off x="0" y="478930"/>
          <a:ext cx="11304264" cy="15198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346">
                  <a:extLst>
                    <a:ext uri="{9D8B030D-6E8A-4147-A177-3AD203B41FA5}">
                      <a16:colId xmlns:a16="http://schemas.microsoft.com/office/drawing/2014/main" val="3604611581"/>
                    </a:ext>
                  </a:extLst>
                </a:gridCol>
                <a:gridCol w="971860">
                  <a:extLst>
                    <a:ext uri="{9D8B030D-6E8A-4147-A177-3AD203B41FA5}">
                      <a16:colId xmlns:a16="http://schemas.microsoft.com/office/drawing/2014/main" val="3787246472"/>
                    </a:ext>
                  </a:extLst>
                </a:gridCol>
                <a:gridCol w="971860">
                  <a:extLst>
                    <a:ext uri="{9D8B030D-6E8A-4147-A177-3AD203B41FA5}">
                      <a16:colId xmlns:a16="http://schemas.microsoft.com/office/drawing/2014/main" val="3834854738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1728198999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853145022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106978696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456749747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542934225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4034610779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690003856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173884988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661675920"/>
                    </a:ext>
                  </a:extLst>
                </a:gridCol>
              </a:tblGrid>
              <a:tr h="3616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HEAD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HGain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LGain</a:t>
                      </a:r>
                      <a:endParaRPr lang="zh-CN" altLang="en-US" sz="1400" b="1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BCID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ChipID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Temp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TriggeID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TAIL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TrigDAC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INDAC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TrigMode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BoardID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271295"/>
                  </a:ext>
                </a:extLst>
              </a:tr>
              <a:tr h="301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72Bytes</a:t>
                      </a:r>
                      <a:endParaRPr lang="zh-CN" altLang="en-US" sz="14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524861"/>
                  </a:ext>
                </a:extLst>
              </a:tr>
              <a:tr h="301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0-1  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2-73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74-145</a:t>
                      </a:r>
                      <a:endParaRPr lang="zh-CN" altLang="en-US" sz="14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146-147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148-149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150-151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152-153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154-157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158-159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160-161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162-163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164-165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451896"/>
                  </a:ext>
                </a:extLst>
              </a:tr>
              <a:tr h="301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0xFA5A</a:t>
                      </a:r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{0 0 G H | Charge(12bit)}</a:t>
                      </a:r>
                    </a:p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×36</a:t>
                      </a:r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{0 0 G H | Charge(12bit)}</a:t>
                      </a:r>
                    </a:p>
                    <a:p>
                      <a:pPr algn="ctr"/>
                      <a:r>
                        <a:rPr lang="en-US" altLang="zh-CN" sz="1000" b="1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×36</a:t>
                      </a:r>
                      <a:endParaRPr lang="zh-CN" altLang="en-US" sz="1000" b="1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0xFEEE</a:t>
                      </a:r>
                    </a:p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0xFEEE</a:t>
                      </a:r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231690"/>
                  </a:ext>
                </a:extLst>
              </a:tr>
            </a:tbl>
          </a:graphicData>
        </a:graphic>
      </p:graphicFrame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44102793-704F-4ADE-B88E-F5C312603175}"/>
              </a:ext>
            </a:extLst>
          </p:cNvPr>
          <p:cNvSpPr/>
          <p:nvPr/>
        </p:nvSpPr>
        <p:spPr>
          <a:xfrm>
            <a:off x="357510" y="5445391"/>
            <a:ext cx="2545080" cy="957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LUMIS_CLOUDESEVER_SLAVER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3A5BBC27-7C77-4722-8163-50B8FD317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890" y="5359152"/>
            <a:ext cx="5704859" cy="1147842"/>
          </a:xfrm>
          <a:prstGeom prst="rect">
            <a:avLst/>
          </a:prstGeom>
        </p:spPr>
      </p:pic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4DA9BB8E-7994-494F-9386-33D490720431}"/>
              </a:ext>
            </a:extLst>
          </p:cNvPr>
          <p:cNvCxnSpPr>
            <a:cxnSpLocks/>
            <a:stCxn id="118" idx="3"/>
            <a:endCxn id="121" idx="1"/>
          </p:cNvCxnSpPr>
          <p:nvPr/>
        </p:nvCxnSpPr>
        <p:spPr>
          <a:xfrm>
            <a:off x="2902590" y="5924181"/>
            <a:ext cx="495300" cy="8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7204D5-23DF-4CA2-94E1-82C893D0FCA5}"/>
              </a:ext>
            </a:extLst>
          </p:cNvPr>
          <p:cNvSpPr/>
          <p:nvPr/>
        </p:nvSpPr>
        <p:spPr>
          <a:xfrm>
            <a:off x="0" y="2183769"/>
            <a:ext cx="5371253" cy="455029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FPGA Data acquisition board (DAQ)---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WellLOG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表格 114">
            <a:extLst>
              <a:ext uri="{FF2B5EF4-FFF2-40B4-BE49-F238E27FC236}">
                <a16:creationId xmlns:a16="http://schemas.microsoft.com/office/drawing/2014/main" id="{3846D2E9-CD01-4745-9E5D-BD29C2122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254900"/>
              </p:ext>
            </p:extLst>
          </p:nvPr>
        </p:nvGraphicFramePr>
        <p:xfrm>
          <a:off x="0" y="2669056"/>
          <a:ext cx="11304264" cy="15198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346">
                  <a:extLst>
                    <a:ext uri="{9D8B030D-6E8A-4147-A177-3AD203B41FA5}">
                      <a16:colId xmlns:a16="http://schemas.microsoft.com/office/drawing/2014/main" val="3604611581"/>
                    </a:ext>
                  </a:extLst>
                </a:gridCol>
                <a:gridCol w="971860">
                  <a:extLst>
                    <a:ext uri="{9D8B030D-6E8A-4147-A177-3AD203B41FA5}">
                      <a16:colId xmlns:a16="http://schemas.microsoft.com/office/drawing/2014/main" val="3787246472"/>
                    </a:ext>
                  </a:extLst>
                </a:gridCol>
                <a:gridCol w="971860">
                  <a:extLst>
                    <a:ext uri="{9D8B030D-6E8A-4147-A177-3AD203B41FA5}">
                      <a16:colId xmlns:a16="http://schemas.microsoft.com/office/drawing/2014/main" val="3834854738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1728198999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853145022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106978696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456749747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542934225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4034610779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690003856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173884988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661675920"/>
                    </a:ext>
                  </a:extLst>
                </a:gridCol>
              </a:tblGrid>
              <a:tr h="3616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HEAD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HGain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LGain</a:t>
                      </a:r>
                      <a:endParaRPr lang="zh-CN" altLang="en-US" sz="1400" b="1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BCID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ChipID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Temp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TriggeID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TAIL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TrigDAC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INDAC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TrigMode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BoardID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271295"/>
                  </a:ext>
                </a:extLst>
              </a:tr>
              <a:tr h="301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72Bytes</a:t>
                      </a:r>
                      <a:endParaRPr lang="zh-CN" altLang="en-US" sz="14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524861"/>
                  </a:ext>
                </a:extLst>
              </a:tr>
              <a:tr h="301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0-1  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2-73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74-145</a:t>
                      </a:r>
                      <a:endParaRPr lang="zh-CN" altLang="en-US" sz="14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146-147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148-149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150-151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152-153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154-157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158-159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160-161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162-163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164-165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451896"/>
                  </a:ext>
                </a:extLst>
              </a:tr>
              <a:tr h="301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0xFA5A</a:t>
                      </a:r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{0 0 G H | Charge(12bit)}</a:t>
                      </a:r>
                    </a:p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×36</a:t>
                      </a:r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{0 0 G H | Charge(12bit)}</a:t>
                      </a:r>
                    </a:p>
                    <a:p>
                      <a:pPr algn="ctr"/>
                      <a:r>
                        <a:rPr lang="en-US" altLang="zh-CN" sz="1000" b="1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×36</a:t>
                      </a:r>
                      <a:endParaRPr lang="zh-CN" altLang="en-US" sz="1000" b="1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0xFEEE</a:t>
                      </a:r>
                    </a:p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0xFEEE</a:t>
                      </a:r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231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93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77B2172-B931-4415-BB8E-F0BEC0294CC4}"/>
              </a:ext>
            </a:extLst>
          </p:cNvPr>
          <p:cNvSpPr/>
          <p:nvPr/>
        </p:nvSpPr>
        <p:spPr>
          <a:xfrm>
            <a:off x="4378064" y="332323"/>
            <a:ext cx="1241416" cy="4962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h5Data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7E067DC-A110-45F3-AB74-E9DAF5251E6E}"/>
              </a:ext>
            </a:extLst>
          </p:cNvPr>
          <p:cNvSpPr/>
          <p:nvPr/>
        </p:nvSpPr>
        <p:spPr>
          <a:xfrm>
            <a:off x="6593256" y="-497174"/>
            <a:ext cx="1557833" cy="4962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h5Data_plate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7753961-ACEB-472C-8BD5-7ECFF89DD325}"/>
              </a:ext>
            </a:extLst>
          </p:cNvPr>
          <p:cNvSpPr/>
          <p:nvPr/>
        </p:nvSpPr>
        <p:spPr>
          <a:xfrm>
            <a:off x="6611242" y="332324"/>
            <a:ext cx="1557833" cy="4962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h5Data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_log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548061AD-E52E-4EE4-A1CE-3713A22F455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5619480" y="-249059"/>
            <a:ext cx="973776" cy="8294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4754E16F-D8E4-4C6E-9EF3-04BF81A80A4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5619480" y="580438"/>
            <a:ext cx="99176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571E2BC-42E4-4A99-9EDD-949821814986}"/>
              </a:ext>
            </a:extLst>
          </p:cNvPr>
          <p:cNvSpPr txBox="1"/>
          <p:nvPr/>
        </p:nvSpPr>
        <p:spPr>
          <a:xfrm>
            <a:off x="5425448" y="364"/>
            <a:ext cx="1370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detectorType</a:t>
            </a:r>
            <a:endParaRPr lang="en-US" altLang="zh-CN" sz="1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7DF0CD-5696-49E6-8AB4-FAAA8AFF0FA3}"/>
              </a:ext>
            </a:extLst>
          </p:cNvPr>
          <p:cNvSpPr txBox="1"/>
          <p:nvPr/>
        </p:nvSpPr>
        <p:spPr>
          <a:xfrm>
            <a:off x="6280999" y="-470929"/>
            <a:ext cx="296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7F24E0-DCCE-4894-867E-A6AE6B6519F2}"/>
              </a:ext>
            </a:extLst>
          </p:cNvPr>
          <p:cNvSpPr txBox="1"/>
          <p:nvPr/>
        </p:nvSpPr>
        <p:spPr>
          <a:xfrm>
            <a:off x="6310252" y="342846"/>
            <a:ext cx="296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845AFC0-0EF8-4406-B18D-873A7FE6940A}"/>
              </a:ext>
            </a:extLst>
          </p:cNvPr>
          <p:cNvSpPr/>
          <p:nvPr/>
        </p:nvSpPr>
        <p:spPr>
          <a:xfrm>
            <a:off x="-773586" y="-1288264"/>
            <a:ext cx="2426574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初始化交互式命令行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32AC759-5D30-4686-B47C-0C28E3639EC2}"/>
              </a:ext>
            </a:extLst>
          </p:cNvPr>
          <p:cNvSpPr/>
          <p:nvPr/>
        </p:nvSpPr>
        <p:spPr>
          <a:xfrm>
            <a:off x="-773586" y="-230210"/>
            <a:ext cx="2426574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自动配置连接服务器</a:t>
            </a:r>
            <a:endParaRPr lang="en-US" altLang="zh-CN" sz="16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481A606-A000-4B03-8953-5C17ECAACC1F}"/>
              </a:ext>
            </a:extLst>
          </p:cNvPr>
          <p:cNvSpPr/>
          <p:nvPr/>
        </p:nvSpPr>
        <p:spPr>
          <a:xfrm>
            <a:off x="-773586" y="821350"/>
            <a:ext cx="2426574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设备参数配置</a:t>
            </a:r>
            <a:endParaRPr lang="en-US" altLang="zh-CN" sz="16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348BEF6-41F8-4404-BD1F-84D68B83235D}"/>
              </a:ext>
            </a:extLst>
          </p:cNvPr>
          <p:cNvSpPr/>
          <p:nvPr/>
        </p:nvSpPr>
        <p:spPr>
          <a:xfrm>
            <a:off x="2520519" y="-841400"/>
            <a:ext cx="1275089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数据采集模式配置</a:t>
            </a:r>
            <a:endParaRPr lang="en-US" altLang="zh-CN" sz="12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FE6F76A-5600-4002-97BA-CDD6146AF391}"/>
              </a:ext>
            </a:extLst>
          </p:cNvPr>
          <p:cNvSpPr/>
          <p:nvPr/>
        </p:nvSpPr>
        <p:spPr>
          <a:xfrm>
            <a:off x="2528799" y="332323"/>
            <a:ext cx="1275089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探测器设备类型配置</a:t>
            </a:r>
            <a:endParaRPr lang="en-US" altLang="zh-CN" sz="12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FAC50A4-2581-4C7C-9768-CE9F65B8629B}"/>
              </a:ext>
            </a:extLst>
          </p:cNvPr>
          <p:cNvCxnSpPr>
            <a:cxnSpLocks/>
            <a:stCxn id="23" idx="3"/>
            <a:endCxn id="4" idx="1"/>
          </p:cNvCxnSpPr>
          <p:nvPr/>
        </p:nvCxnSpPr>
        <p:spPr>
          <a:xfrm>
            <a:off x="3803888" y="580438"/>
            <a:ext cx="5741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29860B23-E0F8-4A17-93A6-5EC1A836CCC6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1652988" y="580438"/>
            <a:ext cx="875811" cy="4890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B8677473-986E-43B2-A489-7ACB295BA77E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 flipV="1">
            <a:off x="1652988" y="-593285"/>
            <a:ext cx="867531" cy="16627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348A95A-B4A7-487C-A921-974E39790E64}"/>
              </a:ext>
            </a:extLst>
          </p:cNvPr>
          <p:cNvSpPr/>
          <p:nvPr/>
        </p:nvSpPr>
        <p:spPr>
          <a:xfrm>
            <a:off x="8228266" y="-1553348"/>
            <a:ext cx="3277937" cy="750738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只保留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H==1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12bit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数据；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只保留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H==0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12bit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数据；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不管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位的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12bit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数据都保留。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624627F-1FCE-497E-9474-018785BE81B5}"/>
              </a:ext>
            </a:extLst>
          </p:cNvPr>
          <p:cNvSpPr/>
          <p:nvPr/>
        </p:nvSpPr>
        <p:spPr>
          <a:xfrm>
            <a:off x="9088319" y="-944"/>
            <a:ext cx="1557833" cy="37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{00GH | 12bit}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C2E0A6D6-3EED-4726-9017-217E67397F18}"/>
              </a:ext>
            </a:extLst>
          </p:cNvPr>
          <p:cNvCxnSpPr>
            <a:cxnSpLocks/>
            <a:stCxn id="44" idx="2"/>
            <a:endCxn id="63" idx="0"/>
          </p:cNvCxnSpPr>
          <p:nvPr/>
        </p:nvCxnSpPr>
        <p:spPr>
          <a:xfrm>
            <a:off x="9867235" y="-802610"/>
            <a:ext cx="1" cy="80166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C7C891EA-8D5E-4832-8D07-D5DEB343915D}"/>
              </a:ext>
            </a:extLst>
          </p:cNvPr>
          <p:cNvCxnSpPr>
            <a:cxnSpLocks/>
            <a:stCxn id="128" idx="3"/>
            <a:endCxn id="44" idx="1"/>
          </p:cNvCxnSpPr>
          <p:nvPr/>
        </p:nvCxnSpPr>
        <p:spPr>
          <a:xfrm flipV="1">
            <a:off x="5911001" y="-1177979"/>
            <a:ext cx="2317265" cy="584694"/>
          </a:xfrm>
          <a:prstGeom prst="bentConnector3">
            <a:avLst>
              <a:gd name="adj1" fmla="val 40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B6C6D259-DA47-4BF0-A2BA-C91CF8D7C919}"/>
              </a:ext>
            </a:extLst>
          </p:cNvPr>
          <p:cNvSpPr/>
          <p:nvPr/>
        </p:nvSpPr>
        <p:spPr>
          <a:xfrm>
            <a:off x="2528800" y="6363226"/>
            <a:ext cx="1356042" cy="819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Close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quit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9BA5D277-0983-4DC3-A763-CEC28B4D32D6}"/>
              </a:ext>
            </a:extLst>
          </p:cNvPr>
          <p:cNvSpPr/>
          <p:nvPr/>
        </p:nvSpPr>
        <p:spPr>
          <a:xfrm>
            <a:off x="2528800" y="5135543"/>
            <a:ext cx="1356042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65A4A85D-9D67-4C66-8435-3B9DF6E76A9F}"/>
              </a:ext>
            </a:extLst>
          </p:cNvPr>
          <p:cNvSpPr/>
          <p:nvPr/>
        </p:nvSpPr>
        <p:spPr>
          <a:xfrm>
            <a:off x="2520520" y="3776859"/>
            <a:ext cx="1356042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59DF2B7F-CAE9-4F47-9716-F8BAEC21B14D}"/>
              </a:ext>
            </a:extLst>
          </p:cNvPr>
          <p:cNvSpPr/>
          <p:nvPr/>
        </p:nvSpPr>
        <p:spPr>
          <a:xfrm>
            <a:off x="2518325" y="2695941"/>
            <a:ext cx="1356042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status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D547654A-78B1-46DA-A776-046BBF80B413}"/>
              </a:ext>
            </a:extLst>
          </p:cNvPr>
          <p:cNvSpPr/>
          <p:nvPr/>
        </p:nvSpPr>
        <p:spPr>
          <a:xfrm>
            <a:off x="2529270" y="1981215"/>
            <a:ext cx="1350181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i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connectServer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C1D17784-CEB1-4015-A3BB-F79F1049970E}"/>
              </a:ext>
            </a:extLst>
          </p:cNvPr>
          <p:cNvSpPr/>
          <p:nvPr/>
        </p:nvSpPr>
        <p:spPr>
          <a:xfrm>
            <a:off x="2521651" y="1098962"/>
            <a:ext cx="1354374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measure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3FFFAE82-A80F-494F-A4D7-874CA5AFD687}"/>
              </a:ext>
            </a:extLst>
          </p:cNvPr>
          <p:cNvSpPr/>
          <p:nvPr/>
        </p:nvSpPr>
        <p:spPr>
          <a:xfrm>
            <a:off x="-773586" y="3249553"/>
            <a:ext cx="2426574" cy="496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交互式命令行操作界面</a:t>
            </a:r>
            <a:endParaRPr lang="en-US" altLang="zh-CN" sz="16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6" name="菱形 95">
            <a:extLst>
              <a:ext uri="{FF2B5EF4-FFF2-40B4-BE49-F238E27FC236}">
                <a16:creationId xmlns:a16="http://schemas.microsoft.com/office/drawing/2014/main" id="{29E11E47-172C-497E-A745-5CBE37DF9C64}"/>
              </a:ext>
            </a:extLst>
          </p:cNvPr>
          <p:cNvSpPr/>
          <p:nvPr/>
        </p:nvSpPr>
        <p:spPr>
          <a:xfrm>
            <a:off x="-224948" y="1779665"/>
            <a:ext cx="1350181" cy="49623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F4420407-1904-4FBE-B9D8-FED4247362CE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439701" y="-792034"/>
            <a:ext cx="0" cy="561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284A84AF-FE45-4D2A-BDE2-FFDF86ECFA96}"/>
              </a:ext>
            </a:extLst>
          </p:cNvPr>
          <p:cNvCxnSpPr>
            <a:stCxn id="13" idx="2"/>
            <a:endCxn id="17" idx="0"/>
          </p:cNvCxnSpPr>
          <p:nvPr/>
        </p:nvCxnSpPr>
        <p:spPr>
          <a:xfrm>
            <a:off x="439701" y="266020"/>
            <a:ext cx="0" cy="555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BF1BC3EB-587F-484E-A2FB-98286CD800FB}"/>
              </a:ext>
            </a:extLst>
          </p:cNvPr>
          <p:cNvCxnSpPr>
            <a:stCxn id="17" idx="2"/>
            <a:endCxn id="96" idx="0"/>
          </p:cNvCxnSpPr>
          <p:nvPr/>
        </p:nvCxnSpPr>
        <p:spPr>
          <a:xfrm>
            <a:off x="439701" y="1317580"/>
            <a:ext cx="10442" cy="462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6A2CC28-14C3-4926-8333-870C09628C1F}"/>
              </a:ext>
            </a:extLst>
          </p:cNvPr>
          <p:cNvCxnSpPr>
            <a:stCxn id="96" idx="2"/>
            <a:endCxn id="95" idx="0"/>
          </p:cNvCxnSpPr>
          <p:nvPr/>
        </p:nvCxnSpPr>
        <p:spPr>
          <a:xfrm flipH="1">
            <a:off x="439701" y="2275895"/>
            <a:ext cx="10442" cy="973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椭圆 108">
            <a:extLst>
              <a:ext uri="{FF2B5EF4-FFF2-40B4-BE49-F238E27FC236}">
                <a16:creationId xmlns:a16="http://schemas.microsoft.com/office/drawing/2014/main" id="{6121DE48-52AE-4E6E-85F5-E6AADEA3E802}"/>
              </a:ext>
            </a:extLst>
          </p:cNvPr>
          <p:cNvSpPr/>
          <p:nvPr/>
        </p:nvSpPr>
        <p:spPr>
          <a:xfrm>
            <a:off x="-356473" y="4569235"/>
            <a:ext cx="1605375" cy="7653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任务注销</a:t>
            </a:r>
            <a:endParaRPr lang="en-US" altLang="zh-CN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退出</a:t>
            </a: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B3F4A19D-B59D-4E1F-A74A-601932B53744}"/>
              </a:ext>
            </a:extLst>
          </p:cNvPr>
          <p:cNvCxnSpPr>
            <a:stCxn id="95" idx="2"/>
            <a:endCxn id="109" idx="0"/>
          </p:cNvCxnSpPr>
          <p:nvPr/>
        </p:nvCxnSpPr>
        <p:spPr>
          <a:xfrm>
            <a:off x="439701" y="3745783"/>
            <a:ext cx="6514" cy="823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C61F8C16-B83A-4E3B-B91E-C3A43C0B5D90}"/>
              </a:ext>
            </a:extLst>
          </p:cNvPr>
          <p:cNvSpPr txBox="1"/>
          <p:nvPr/>
        </p:nvSpPr>
        <p:spPr>
          <a:xfrm>
            <a:off x="6988511" y="-1422110"/>
            <a:ext cx="12463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CheckMode</a:t>
            </a:r>
            <a:endParaRPr lang="en-US" altLang="zh-CN" sz="1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FAF627CA-E40D-4D21-9876-ACF47BE43CE0}"/>
              </a:ext>
            </a:extLst>
          </p:cNvPr>
          <p:cNvSpPr/>
          <p:nvPr/>
        </p:nvSpPr>
        <p:spPr>
          <a:xfrm>
            <a:off x="4244620" y="-841400"/>
            <a:ext cx="1666381" cy="4962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Lumis_Decode</a:t>
            </a:r>
            <a:endParaRPr lang="en-US" altLang="zh-CN" sz="16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5C9E4243-1E12-493A-BFDC-F43E67B7C244}"/>
              </a:ext>
            </a:extLst>
          </p:cNvPr>
          <p:cNvCxnSpPr>
            <a:cxnSpLocks/>
            <a:stCxn id="22" idx="3"/>
            <a:endCxn id="128" idx="1"/>
          </p:cNvCxnSpPr>
          <p:nvPr/>
        </p:nvCxnSpPr>
        <p:spPr>
          <a:xfrm>
            <a:off x="3795608" y="-593285"/>
            <a:ext cx="4490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矩形 154">
            <a:extLst>
              <a:ext uri="{FF2B5EF4-FFF2-40B4-BE49-F238E27FC236}">
                <a16:creationId xmlns:a16="http://schemas.microsoft.com/office/drawing/2014/main" id="{8CF190EE-CB68-456F-9C4B-EA3E4A563DA5}"/>
              </a:ext>
            </a:extLst>
          </p:cNvPr>
          <p:cNvSpPr/>
          <p:nvPr/>
        </p:nvSpPr>
        <p:spPr>
          <a:xfrm>
            <a:off x="8038230" y="3238158"/>
            <a:ext cx="3773736" cy="49623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"-t"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showEnergySpectrum_terminal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"-qt"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showEnergySpectrum_qt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A4BFAAD0-EF5B-4778-BEBB-4CED853EF38D}"/>
              </a:ext>
            </a:extLst>
          </p:cNvPr>
          <p:cNvSpPr/>
          <p:nvPr/>
        </p:nvSpPr>
        <p:spPr>
          <a:xfrm>
            <a:off x="8038230" y="3919308"/>
            <a:ext cx="3109692" cy="51613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"-t"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showTriggerStatus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"-qt"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showTriggerStatus_qt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A2E8F5C6-314F-4BD7-A27A-171412AF6C91}"/>
              </a:ext>
            </a:extLst>
          </p:cNvPr>
          <p:cNvSpPr/>
          <p:nvPr/>
        </p:nvSpPr>
        <p:spPr>
          <a:xfrm>
            <a:off x="4358340" y="2722353"/>
            <a:ext cx="6651186" cy="4517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"status"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printSlaverStatus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打印当前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slaver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状态（服务器连接状态、测量状态，配置文件路径与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文件路径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EDFDFA6B-0149-4850-9E20-D9755D0DB72D}"/>
              </a:ext>
            </a:extLst>
          </p:cNvPr>
          <p:cNvSpPr/>
          <p:nvPr/>
        </p:nvSpPr>
        <p:spPr>
          <a:xfrm>
            <a:off x="4391427" y="2008159"/>
            <a:ext cx="3941443" cy="44234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"start"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startLinkServer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"stop"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stopLinkServer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1AE0B631-B750-441D-9471-E91225EFD965}"/>
              </a:ext>
            </a:extLst>
          </p:cNvPr>
          <p:cNvSpPr/>
          <p:nvPr/>
        </p:nvSpPr>
        <p:spPr>
          <a:xfrm>
            <a:off x="4370847" y="980340"/>
            <a:ext cx="5199874" cy="7386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"start"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startMeasure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开始测量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"stop"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stopMeasure</a:t>
            </a:r>
            <a:r>
              <a:rPr lang="en-US" altLang="zh-CN" sz="1600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结束测量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"status"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showMeasureStatus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持续打印测量状态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96ADBD94-AEC2-4FDD-ABFF-0010A2426698}"/>
              </a:ext>
            </a:extLst>
          </p:cNvPr>
          <p:cNvCxnSpPr>
            <a:cxnSpLocks/>
            <a:stCxn id="95" idx="3"/>
            <a:endCxn id="92" idx="1"/>
          </p:cNvCxnSpPr>
          <p:nvPr/>
        </p:nvCxnSpPr>
        <p:spPr>
          <a:xfrm flipV="1">
            <a:off x="1652988" y="1347077"/>
            <a:ext cx="868663" cy="21505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连接符: 肘形 162">
            <a:extLst>
              <a:ext uri="{FF2B5EF4-FFF2-40B4-BE49-F238E27FC236}">
                <a16:creationId xmlns:a16="http://schemas.microsoft.com/office/drawing/2014/main" id="{AF338938-BF4E-472D-8774-758B00E90C34}"/>
              </a:ext>
            </a:extLst>
          </p:cNvPr>
          <p:cNvCxnSpPr>
            <a:cxnSpLocks/>
            <a:stCxn id="95" idx="3"/>
            <a:endCxn id="86" idx="1"/>
          </p:cNvCxnSpPr>
          <p:nvPr/>
        </p:nvCxnSpPr>
        <p:spPr>
          <a:xfrm flipV="1">
            <a:off x="1652988" y="2229330"/>
            <a:ext cx="876282" cy="12683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64">
            <a:extLst>
              <a:ext uri="{FF2B5EF4-FFF2-40B4-BE49-F238E27FC236}">
                <a16:creationId xmlns:a16="http://schemas.microsoft.com/office/drawing/2014/main" id="{17456B35-D5F8-4A94-9475-307468CD8EA1}"/>
              </a:ext>
            </a:extLst>
          </p:cNvPr>
          <p:cNvCxnSpPr>
            <a:cxnSpLocks/>
            <a:stCxn id="95" idx="3"/>
            <a:endCxn id="85" idx="1"/>
          </p:cNvCxnSpPr>
          <p:nvPr/>
        </p:nvCxnSpPr>
        <p:spPr>
          <a:xfrm flipV="1">
            <a:off x="1652988" y="2944056"/>
            <a:ext cx="865337" cy="5536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569BC774-F92D-4592-A243-50D40B4B863B}"/>
              </a:ext>
            </a:extLst>
          </p:cNvPr>
          <p:cNvCxnSpPr>
            <a:cxnSpLocks/>
            <a:stCxn id="95" idx="3"/>
            <a:endCxn id="84" idx="1"/>
          </p:cNvCxnSpPr>
          <p:nvPr/>
        </p:nvCxnSpPr>
        <p:spPr>
          <a:xfrm>
            <a:off x="1652988" y="3497668"/>
            <a:ext cx="867532" cy="5273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连接符: 肘形 168">
            <a:extLst>
              <a:ext uri="{FF2B5EF4-FFF2-40B4-BE49-F238E27FC236}">
                <a16:creationId xmlns:a16="http://schemas.microsoft.com/office/drawing/2014/main" id="{162513E9-55C3-42F0-B5B5-66C45F2ED823}"/>
              </a:ext>
            </a:extLst>
          </p:cNvPr>
          <p:cNvCxnSpPr>
            <a:cxnSpLocks/>
            <a:stCxn id="95" idx="3"/>
            <a:endCxn id="83" idx="1"/>
          </p:cNvCxnSpPr>
          <p:nvPr/>
        </p:nvCxnSpPr>
        <p:spPr>
          <a:xfrm>
            <a:off x="1652988" y="3497668"/>
            <a:ext cx="875812" cy="18859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70">
            <a:extLst>
              <a:ext uri="{FF2B5EF4-FFF2-40B4-BE49-F238E27FC236}">
                <a16:creationId xmlns:a16="http://schemas.microsoft.com/office/drawing/2014/main" id="{EB3EDF63-BC81-44CF-86C1-07AAB8FF5934}"/>
              </a:ext>
            </a:extLst>
          </p:cNvPr>
          <p:cNvCxnSpPr>
            <a:cxnSpLocks/>
            <a:stCxn id="95" idx="3"/>
            <a:endCxn id="82" idx="1"/>
          </p:cNvCxnSpPr>
          <p:nvPr/>
        </p:nvCxnSpPr>
        <p:spPr>
          <a:xfrm>
            <a:off x="1652988" y="3497668"/>
            <a:ext cx="875812" cy="32752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>
            <a:extLst>
              <a:ext uri="{FF2B5EF4-FFF2-40B4-BE49-F238E27FC236}">
                <a16:creationId xmlns:a16="http://schemas.microsoft.com/office/drawing/2014/main" id="{538C7999-4ED4-45E9-8C84-E406740FA1F9}"/>
              </a:ext>
            </a:extLst>
          </p:cNvPr>
          <p:cNvSpPr/>
          <p:nvPr/>
        </p:nvSpPr>
        <p:spPr>
          <a:xfrm>
            <a:off x="4370847" y="3351235"/>
            <a:ext cx="3215469" cy="2810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energySpectrum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显示能谱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379656A4-075C-4ADB-8C92-738B00C0F982}"/>
              </a:ext>
            </a:extLst>
          </p:cNvPr>
          <p:cNvSpPr/>
          <p:nvPr/>
        </p:nvSpPr>
        <p:spPr>
          <a:xfrm>
            <a:off x="4384211" y="4012475"/>
            <a:ext cx="3215469" cy="332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triggerEvent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显示触发情况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5D289B9A-0B9F-4296-96E7-F519D38ADC8F}"/>
              </a:ext>
            </a:extLst>
          </p:cNvPr>
          <p:cNvCxnSpPr>
            <a:cxnSpLocks/>
            <a:stCxn id="84" idx="3"/>
            <a:endCxn id="172" idx="1"/>
          </p:cNvCxnSpPr>
          <p:nvPr/>
        </p:nvCxnSpPr>
        <p:spPr>
          <a:xfrm flipV="1">
            <a:off x="3876562" y="3491778"/>
            <a:ext cx="494285" cy="5331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连接符: 肘形 177">
            <a:extLst>
              <a:ext uri="{FF2B5EF4-FFF2-40B4-BE49-F238E27FC236}">
                <a16:creationId xmlns:a16="http://schemas.microsoft.com/office/drawing/2014/main" id="{75EC5CE1-EEA8-4D87-B980-561BD0704BEC}"/>
              </a:ext>
            </a:extLst>
          </p:cNvPr>
          <p:cNvCxnSpPr>
            <a:cxnSpLocks/>
            <a:stCxn id="84" idx="3"/>
            <a:endCxn id="173" idx="1"/>
          </p:cNvCxnSpPr>
          <p:nvPr/>
        </p:nvCxnSpPr>
        <p:spPr>
          <a:xfrm>
            <a:off x="3876562" y="4024974"/>
            <a:ext cx="507649" cy="1535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071FE18F-5CE5-4BD6-93E1-859101A04135}"/>
              </a:ext>
            </a:extLst>
          </p:cNvPr>
          <p:cNvCxnSpPr>
            <a:cxnSpLocks/>
            <a:stCxn id="172" idx="3"/>
            <a:endCxn id="155" idx="1"/>
          </p:cNvCxnSpPr>
          <p:nvPr/>
        </p:nvCxnSpPr>
        <p:spPr>
          <a:xfrm flipV="1">
            <a:off x="7586316" y="3486273"/>
            <a:ext cx="451914" cy="5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5407A66D-DE2A-43F4-9CDD-8102746DF9E9}"/>
              </a:ext>
            </a:extLst>
          </p:cNvPr>
          <p:cNvCxnSpPr>
            <a:cxnSpLocks/>
            <a:stCxn id="173" idx="3"/>
            <a:endCxn id="156" idx="1"/>
          </p:cNvCxnSpPr>
          <p:nvPr/>
        </p:nvCxnSpPr>
        <p:spPr>
          <a:xfrm flipV="1">
            <a:off x="7599680" y="4177376"/>
            <a:ext cx="438550" cy="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 187">
            <a:extLst>
              <a:ext uri="{FF2B5EF4-FFF2-40B4-BE49-F238E27FC236}">
                <a16:creationId xmlns:a16="http://schemas.microsoft.com/office/drawing/2014/main" id="{92E2F5A6-53B3-4D9B-B04D-9365CC0A8A63}"/>
              </a:ext>
            </a:extLst>
          </p:cNvPr>
          <p:cNvSpPr/>
          <p:nvPr/>
        </p:nvSpPr>
        <p:spPr>
          <a:xfrm>
            <a:off x="8048390" y="4712038"/>
            <a:ext cx="5405765" cy="49623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"-t"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getConfigureFile_input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#--terminal</a:t>
            </a:r>
            <a:endParaRPr lang="en-US" altLang="zh-CN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"-d"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getConfigureFile_dialog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#--dialog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（</a:t>
            </a:r>
            <a:r>
              <a:rPr lang="en-US" altLang="zh-C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）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FD11AAB1-6E2D-4025-A40E-40524524145B}"/>
              </a:ext>
            </a:extLst>
          </p:cNvPr>
          <p:cNvSpPr/>
          <p:nvPr/>
        </p:nvSpPr>
        <p:spPr>
          <a:xfrm>
            <a:off x="4370847" y="4807819"/>
            <a:ext cx="3234080" cy="2992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"configuration"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设置配置文件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466BE2EC-B385-48C9-B390-E42231F2DFF0}"/>
              </a:ext>
            </a:extLst>
          </p:cNvPr>
          <p:cNvSpPr/>
          <p:nvPr/>
        </p:nvSpPr>
        <p:spPr>
          <a:xfrm>
            <a:off x="4378063" y="5466335"/>
            <a:ext cx="3704217" cy="28904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"dataPath"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setH5Path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设置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路径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FE37B05C-8A39-454D-A2E2-47E896BBB5CD}"/>
              </a:ext>
            </a:extLst>
          </p:cNvPr>
          <p:cNvCxnSpPr>
            <a:cxnSpLocks/>
            <a:stCxn id="190" idx="3"/>
            <a:endCxn id="188" idx="1"/>
          </p:cNvCxnSpPr>
          <p:nvPr/>
        </p:nvCxnSpPr>
        <p:spPr>
          <a:xfrm>
            <a:off x="7604927" y="4957445"/>
            <a:ext cx="443463" cy="2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矩形 193">
            <a:extLst>
              <a:ext uri="{FF2B5EF4-FFF2-40B4-BE49-F238E27FC236}">
                <a16:creationId xmlns:a16="http://schemas.microsoft.com/office/drawing/2014/main" id="{1084B7C3-A439-4CF0-93B0-7DC2CF4542EC}"/>
              </a:ext>
            </a:extLst>
          </p:cNvPr>
          <p:cNvSpPr/>
          <p:nvPr/>
        </p:nvSpPr>
        <p:spPr>
          <a:xfrm>
            <a:off x="8076894" y="5892957"/>
            <a:ext cx="3245098" cy="74989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"routine"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setMeasureMode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"baseline"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setMeasureMode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"all"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setMeasureMode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B0FC3C83-04BE-40BD-BA00-84BD48E804CB}"/>
              </a:ext>
            </a:extLst>
          </p:cNvPr>
          <p:cNvSpPr/>
          <p:nvPr/>
        </p:nvSpPr>
        <p:spPr>
          <a:xfrm>
            <a:off x="8516361" y="6821834"/>
            <a:ext cx="4146301" cy="51613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"plate"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setDetectorType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平板型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wellLog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setDetectorType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井眼型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F7CB8CBE-84C4-4121-8D4D-A7B067CC5E2F}"/>
              </a:ext>
            </a:extLst>
          </p:cNvPr>
          <p:cNvSpPr/>
          <p:nvPr/>
        </p:nvSpPr>
        <p:spPr>
          <a:xfrm>
            <a:off x="4384211" y="6125186"/>
            <a:ext cx="3014089" cy="2890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measureMode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设置采集模式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08C36DA4-C36C-41CC-B06D-711031035645}"/>
              </a:ext>
            </a:extLst>
          </p:cNvPr>
          <p:cNvSpPr/>
          <p:nvPr/>
        </p:nvSpPr>
        <p:spPr>
          <a:xfrm>
            <a:off x="4391427" y="6948088"/>
            <a:ext cx="3685467" cy="2673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detectorType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设置对应的设备类型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2E32EA6D-202F-473C-B049-5D2539DDBC94}"/>
              </a:ext>
            </a:extLst>
          </p:cNvPr>
          <p:cNvCxnSpPr>
            <a:cxnSpLocks/>
            <a:stCxn id="196" idx="3"/>
            <a:endCxn id="194" idx="1"/>
          </p:cNvCxnSpPr>
          <p:nvPr/>
        </p:nvCxnSpPr>
        <p:spPr>
          <a:xfrm flipV="1">
            <a:off x="7398300" y="6267904"/>
            <a:ext cx="678594" cy="1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B2AFCEC0-F313-4479-9276-B0C174AF4061}"/>
              </a:ext>
            </a:extLst>
          </p:cNvPr>
          <p:cNvCxnSpPr>
            <a:cxnSpLocks/>
            <a:stCxn id="197" idx="3"/>
            <a:endCxn id="195" idx="1"/>
          </p:cNvCxnSpPr>
          <p:nvPr/>
        </p:nvCxnSpPr>
        <p:spPr>
          <a:xfrm flipV="1">
            <a:off x="8076894" y="7079902"/>
            <a:ext cx="439467" cy="1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8D9126C1-B851-4183-B1A0-021978CE36E1}"/>
              </a:ext>
            </a:extLst>
          </p:cNvPr>
          <p:cNvCxnSpPr>
            <a:cxnSpLocks/>
            <a:stCxn id="85" idx="3"/>
            <a:endCxn id="157" idx="1"/>
          </p:cNvCxnSpPr>
          <p:nvPr/>
        </p:nvCxnSpPr>
        <p:spPr>
          <a:xfrm>
            <a:off x="3874367" y="2944056"/>
            <a:ext cx="483973" cy="4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C6FEF355-CAD4-4AAB-9EDC-A6FA6AE51483}"/>
              </a:ext>
            </a:extLst>
          </p:cNvPr>
          <p:cNvCxnSpPr>
            <a:cxnSpLocks/>
            <a:stCxn id="86" idx="3"/>
            <a:endCxn id="158" idx="1"/>
          </p:cNvCxnSpPr>
          <p:nvPr/>
        </p:nvCxnSpPr>
        <p:spPr>
          <a:xfrm>
            <a:off x="3879451" y="2229330"/>
            <a:ext cx="511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BADE2E10-3F8F-4D6F-8819-E81BF9F7B4FF}"/>
              </a:ext>
            </a:extLst>
          </p:cNvPr>
          <p:cNvCxnSpPr>
            <a:cxnSpLocks/>
            <a:stCxn id="92" idx="3"/>
            <a:endCxn id="159" idx="1"/>
          </p:cNvCxnSpPr>
          <p:nvPr/>
        </p:nvCxnSpPr>
        <p:spPr>
          <a:xfrm>
            <a:off x="3876025" y="1347077"/>
            <a:ext cx="494822" cy="2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矩形 232">
            <a:extLst>
              <a:ext uri="{FF2B5EF4-FFF2-40B4-BE49-F238E27FC236}">
                <a16:creationId xmlns:a16="http://schemas.microsoft.com/office/drawing/2014/main" id="{DB230C20-345C-438F-B25F-A1E4ADEAD66B}"/>
              </a:ext>
            </a:extLst>
          </p:cNvPr>
          <p:cNvSpPr/>
          <p:nvPr/>
        </p:nvSpPr>
        <p:spPr>
          <a:xfrm>
            <a:off x="4391427" y="7641330"/>
            <a:ext cx="3685467" cy="2673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dataBackup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设置是否备份数据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3D83163A-3424-4215-8958-24B3E15E28FA}"/>
              </a:ext>
            </a:extLst>
          </p:cNvPr>
          <p:cNvSpPr/>
          <p:nvPr/>
        </p:nvSpPr>
        <p:spPr>
          <a:xfrm>
            <a:off x="8516362" y="7516954"/>
            <a:ext cx="4146301" cy="51613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"enable"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setEnableDataBackup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"disable"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setEnableDataBackup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3B61F861-C3A3-4576-A396-EAEAB71FDB80}"/>
              </a:ext>
            </a:extLst>
          </p:cNvPr>
          <p:cNvCxnSpPr>
            <a:cxnSpLocks/>
            <a:stCxn id="233" idx="3"/>
            <a:endCxn id="234" idx="1"/>
          </p:cNvCxnSpPr>
          <p:nvPr/>
        </p:nvCxnSpPr>
        <p:spPr>
          <a:xfrm>
            <a:off x="8076894" y="7775022"/>
            <a:ext cx="4394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连接符: 肘形 238">
            <a:extLst>
              <a:ext uri="{FF2B5EF4-FFF2-40B4-BE49-F238E27FC236}">
                <a16:creationId xmlns:a16="http://schemas.microsoft.com/office/drawing/2014/main" id="{78A23507-7136-417C-926B-777B59EEDDBD}"/>
              </a:ext>
            </a:extLst>
          </p:cNvPr>
          <p:cNvCxnSpPr>
            <a:cxnSpLocks/>
            <a:stCxn id="83" idx="3"/>
            <a:endCxn id="190" idx="1"/>
          </p:cNvCxnSpPr>
          <p:nvPr/>
        </p:nvCxnSpPr>
        <p:spPr>
          <a:xfrm flipV="1">
            <a:off x="3884842" y="4957445"/>
            <a:ext cx="486005" cy="4262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连接符: 肘形 240">
            <a:extLst>
              <a:ext uri="{FF2B5EF4-FFF2-40B4-BE49-F238E27FC236}">
                <a16:creationId xmlns:a16="http://schemas.microsoft.com/office/drawing/2014/main" id="{F3F2EEEA-D478-4F61-AFD6-16D16DF31FBD}"/>
              </a:ext>
            </a:extLst>
          </p:cNvPr>
          <p:cNvCxnSpPr>
            <a:cxnSpLocks/>
            <a:stCxn id="83" idx="3"/>
            <a:endCxn id="191" idx="1"/>
          </p:cNvCxnSpPr>
          <p:nvPr/>
        </p:nvCxnSpPr>
        <p:spPr>
          <a:xfrm>
            <a:off x="3884842" y="5383658"/>
            <a:ext cx="493221" cy="2272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连接符: 肘形 242">
            <a:extLst>
              <a:ext uri="{FF2B5EF4-FFF2-40B4-BE49-F238E27FC236}">
                <a16:creationId xmlns:a16="http://schemas.microsoft.com/office/drawing/2014/main" id="{626A278C-B21C-4485-ABAB-76D001A47BBF}"/>
              </a:ext>
            </a:extLst>
          </p:cNvPr>
          <p:cNvCxnSpPr>
            <a:cxnSpLocks/>
            <a:stCxn id="83" idx="3"/>
            <a:endCxn id="196" idx="1"/>
          </p:cNvCxnSpPr>
          <p:nvPr/>
        </p:nvCxnSpPr>
        <p:spPr>
          <a:xfrm>
            <a:off x="3884842" y="5383658"/>
            <a:ext cx="499369" cy="8860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连接符: 肘形 244">
            <a:extLst>
              <a:ext uri="{FF2B5EF4-FFF2-40B4-BE49-F238E27FC236}">
                <a16:creationId xmlns:a16="http://schemas.microsoft.com/office/drawing/2014/main" id="{2B9FEB3C-DB96-4E4F-B4CD-4790D186757E}"/>
              </a:ext>
            </a:extLst>
          </p:cNvPr>
          <p:cNvCxnSpPr>
            <a:cxnSpLocks/>
            <a:stCxn id="83" idx="3"/>
            <a:endCxn id="197" idx="1"/>
          </p:cNvCxnSpPr>
          <p:nvPr/>
        </p:nvCxnSpPr>
        <p:spPr>
          <a:xfrm>
            <a:off x="3884842" y="5383658"/>
            <a:ext cx="506585" cy="16981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连接符: 肘形 246">
            <a:extLst>
              <a:ext uri="{FF2B5EF4-FFF2-40B4-BE49-F238E27FC236}">
                <a16:creationId xmlns:a16="http://schemas.microsoft.com/office/drawing/2014/main" id="{3C45DACF-F01B-420E-8DB0-2D91E9283BF4}"/>
              </a:ext>
            </a:extLst>
          </p:cNvPr>
          <p:cNvCxnSpPr>
            <a:cxnSpLocks/>
            <a:stCxn id="83" idx="3"/>
            <a:endCxn id="233" idx="1"/>
          </p:cNvCxnSpPr>
          <p:nvPr/>
        </p:nvCxnSpPr>
        <p:spPr>
          <a:xfrm>
            <a:off x="3884842" y="5383658"/>
            <a:ext cx="506585" cy="23913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1C2E194-A65D-4FC8-9346-BD935CCE78AC}"/>
              </a:ext>
            </a:extLst>
          </p:cNvPr>
          <p:cNvCxnSpPr>
            <a:cxnSpLocks/>
            <a:stCxn id="82" idx="2"/>
            <a:endCxn id="80" idx="0"/>
          </p:cNvCxnSpPr>
          <p:nvPr/>
        </p:nvCxnSpPr>
        <p:spPr>
          <a:xfrm>
            <a:off x="3206821" y="7182575"/>
            <a:ext cx="0" cy="210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BD55DAA3-BE3F-476F-B7F6-F2FBDCDBC9BF}"/>
              </a:ext>
            </a:extLst>
          </p:cNvPr>
          <p:cNvSpPr/>
          <p:nvPr/>
        </p:nvSpPr>
        <p:spPr>
          <a:xfrm>
            <a:off x="2697052" y="7392578"/>
            <a:ext cx="1019538" cy="51613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quitTUI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09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A83801FD-8E90-4A01-969F-00231DFE911C}"/>
              </a:ext>
            </a:extLst>
          </p:cNvPr>
          <p:cNvSpPr/>
          <p:nvPr/>
        </p:nvSpPr>
        <p:spPr>
          <a:xfrm>
            <a:off x="-89782" y="1964724"/>
            <a:ext cx="1037171" cy="32618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linkGBT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B9DFF03-9FC8-4294-83E2-3F90B5FEBFE8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428804" y="741921"/>
            <a:ext cx="0" cy="1222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F11173F-807C-4E7E-9BA4-8E70655D5269}"/>
              </a:ext>
            </a:extLst>
          </p:cNvPr>
          <p:cNvSpPr/>
          <p:nvPr/>
        </p:nvSpPr>
        <p:spPr>
          <a:xfrm>
            <a:off x="-53258" y="2756935"/>
            <a:ext cx="1823128" cy="32097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sendCommand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F018BC3-AE09-4B31-BAEF-3792EF4151DF}"/>
              </a:ext>
            </a:extLst>
          </p:cNvPr>
          <p:cNvSpPr/>
          <p:nvPr/>
        </p:nvSpPr>
        <p:spPr>
          <a:xfrm>
            <a:off x="-53258" y="3155357"/>
            <a:ext cx="1823129" cy="32097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sendConfigFile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95FEC706-A4C8-49E5-B702-44676E6B4462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rot="16200000" flipH="1">
            <a:off x="440613" y="2279104"/>
            <a:ext cx="393529" cy="4171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BD175AC-2B1C-477C-BA2A-616CA01A8C84}"/>
              </a:ext>
            </a:extLst>
          </p:cNvPr>
          <p:cNvSpPr/>
          <p:nvPr/>
        </p:nvSpPr>
        <p:spPr>
          <a:xfrm>
            <a:off x="1291269" y="1964723"/>
            <a:ext cx="1037171" cy="32618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h5Data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4AE4E1-FB2C-4156-A264-6E54BECBA1BD}"/>
              </a:ext>
            </a:extLst>
          </p:cNvPr>
          <p:cNvSpPr/>
          <p:nvPr/>
        </p:nvSpPr>
        <p:spPr>
          <a:xfrm>
            <a:off x="-265604" y="2684442"/>
            <a:ext cx="2223108" cy="184274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2CE681-BEF2-44C9-A8A1-4CF32778566C}"/>
              </a:ext>
            </a:extLst>
          </p:cNvPr>
          <p:cNvSpPr/>
          <p:nvPr/>
        </p:nvSpPr>
        <p:spPr>
          <a:xfrm>
            <a:off x="-395143" y="254644"/>
            <a:ext cx="3449567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measure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start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startMeasure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FF40840-4C0C-4D5E-8993-BD75333102BD}"/>
              </a:ext>
            </a:extLst>
          </p:cNvPr>
          <p:cNvSpPr/>
          <p:nvPr/>
        </p:nvSpPr>
        <p:spPr>
          <a:xfrm>
            <a:off x="-179789" y="3616799"/>
            <a:ext cx="2053474" cy="796091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发送探测器电子学部分的控制及配置指令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E83681-7394-4006-92C9-4F2BD2FD9578}"/>
              </a:ext>
            </a:extLst>
          </p:cNvPr>
          <p:cNvSpPr/>
          <p:nvPr/>
        </p:nvSpPr>
        <p:spPr>
          <a:xfrm>
            <a:off x="1089189" y="843549"/>
            <a:ext cx="1463340" cy="79498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A55B0B4-05EC-4345-A71C-59A2E3D4B168}"/>
              </a:ext>
            </a:extLst>
          </p:cNvPr>
          <p:cNvSpPr/>
          <p:nvPr/>
        </p:nvSpPr>
        <p:spPr>
          <a:xfrm>
            <a:off x="1174006" y="944145"/>
            <a:ext cx="1270907" cy="55790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新建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h5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B9FF87AB-148B-49F2-B82B-247350758A84}"/>
              </a:ext>
            </a:extLst>
          </p:cNvPr>
          <p:cNvCxnSpPr>
            <a:cxnSpLocks/>
            <a:stCxn id="10" idx="0"/>
            <a:endCxn id="27" idx="2"/>
          </p:cNvCxnSpPr>
          <p:nvPr/>
        </p:nvCxnSpPr>
        <p:spPr>
          <a:xfrm flipH="1" flipV="1">
            <a:off x="1809460" y="1502050"/>
            <a:ext cx="395" cy="462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D77B35D-F3E0-4D68-ACCC-E15DFADFA645}"/>
              </a:ext>
            </a:extLst>
          </p:cNvPr>
          <p:cNvCxnSpPr>
            <a:stCxn id="4" idx="3"/>
            <a:endCxn id="10" idx="1"/>
          </p:cNvCxnSpPr>
          <p:nvPr/>
        </p:nvCxnSpPr>
        <p:spPr>
          <a:xfrm flipV="1">
            <a:off x="947389" y="2127818"/>
            <a:ext cx="3438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CB70F8F-3831-486B-ABB7-53137B86DDEE}"/>
              </a:ext>
            </a:extLst>
          </p:cNvPr>
          <p:cNvSpPr/>
          <p:nvPr/>
        </p:nvSpPr>
        <p:spPr>
          <a:xfrm>
            <a:off x="2694106" y="1866736"/>
            <a:ext cx="1722920" cy="522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LUMIS@core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建立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连接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0AA540D-A489-4178-973C-BEB1C164A996}"/>
              </a:ext>
            </a:extLst>
          </p:cNvPr>
          <p:cNvSpPr/>
          <p:nvPr/>
        </p:nvSpPr>
        <p:spPr>
          <a:xfrm>
            <a:off x="5025730" y="1440331"/>
            <a:ext cx="2111540" cy="522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loadDataFromSocket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0FC2417-8C26-458D-A397-E2B24C9F44C9}"/>
              </a:ext>
            </a:extLst>
          </p:cNvPr>
          <p:cNvSpPr/>
          <p:nvPr/>
        </p:nvSpPr>
        <p:spPr>
          <a:xfrm>
            <a:off x="5025729" y="2388897"/>
            <a:ext cx="1255103" cy="522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dataDecode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E14A3342-931A-4394-AC4C-24E989947EB5}"/>
              </a:ext>
            </a:extLst>
          </p:cNvPr>
          <p:cNvCxnSpPr>
            <a:stCxn id="10" idx="3"/>
            <a:endCxn id="40" idx="1"/>
          </p:cNvCxnSpPr>
          <p:nvPr/>
        </p:nvCxnSpPr>
        <p:spPr>
          <a:xfrm flipV="1">
            <a:off x="2328440" y="2127817"/>
            <a:ext cx="3656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E6589C0A-5DDE-4D20-949D-0DD4C00B0D46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 flipV="1">
            <a:off x="4417026" y="1701412"/>
            <a:ext cx="608704" cy="4264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1EF64228-03BD-41AB-81DA-4CFF6A0B72FB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4417026" y="2127817"/>
            <a:ext cx="608703" cy="522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AEFC4A82-FA17-4AD9-B9C5-84C72DFF772B}"/>
              </a:ext>
            </a:extLst>
          </p:cNvPr>
          <p:cNvSpPr txBox="1"/>
          <p:nvPr/>
        </p:nvSpPr>
        <p:spPr>
          <a:xfrm>
            <a:off x="4396608" y="1819071"/>
            <a:ext cx="649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建立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线程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6C973AC-67DE-40D7-BE76-30C6A07E00C6}"/>
              </a:ext>
            </a:extLst>
          </p:cNvPr>
          <p:cNvSpPr txBox="1"/>
          <p:nvPr/>
        </p:nvSpPr>
        <p:spPr>
          <a:xfrm>
            <a:off x="7550396" y="1516745"/>
            <a:ext cx="4285584" cy="3693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decodeTool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loadBinaryData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6C385D46-A453-4DE9-B07E-0FAC40C1B4D6}"/>
              </a:ext>
            </a:extLst>
          </p:cNvPr>
          <p:cNvCxnSpPr>
            <a:cxnSpLocks/>
            <a:stCxn id="41" idx="3"/>
            <a:endCxn id="53" idx="1"/>
          </p:cNvCxnSpPr>
          <p:nvPr/>
        </p:nvCxnSpPr>
        <p:spPr>
          <a:xfrm flipV="1">
            <a:off x="7137270" y="1701411"/>
            <a:ext cx="4131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40375192-AF8F-4482-AA5B-E6A182133B1E}"/>
              </a:ext>
            </a:extLst>
          </p:cNvPr>
          <p:cNvSpPr txBox="1"/>
          <p:nvPr/>
        </p:nvSpPr>
        <p:spPr>
          <a:xfrm>
            <a:off x="6696495" y="2463616"/>
            <a:ext cx="4650816" cy="3693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decodeTool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decodingOneEventData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E990C360-8354-497B-A30A-F8FBC683B92A}"/>
              </a:ext>
            </a:extLst>
          </p:cNvPr>
          <p:cNvCxnSpPr>
            <a:stCxn id="42" idx="3"/>
            <a:endCxn id="58" idx="1"/>
          </p:cNvCxnSpPr>
          <p:nvPr/>
        </p:nvCxnSpPr>
        <p:spPr>
          <a:xfrm flipV="1">
            <a:off x="6280832" y="2648282"/>
            <a:ext cx="415663" cy="1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FD303DCC-0E53-4118-A8B5-21D464B8C84A}"/>
              </a:ext>
            </a:extLst>
          </p:cNvPr>
          <p:cNvCxnSpPr>
            <a:cxnSpLocks/>
            <a:stCxn id="53" idx="0"/>
            <a:endCxn id="77" idx="2"/>
          </p:cNvCxnSpPr>
          <p:nvPr/>
        </p:nvCxnSpPr>
        <p:spPr>
          <a:xfrm flipH="1" flipV="1">
            <a:off x="9693187" y="1275615"/>
            <a:ext cx="1" cy="241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3479B293-B8A7-4F15-8894-09753C38A013}"/>
              </a:ext>
            </a:extLst>
          </p:cNvPr>
          <p:cNvSpPr/>
          <p:nvPr/>
        </p:nvSpPr>
        <p:spPr>
          <a:xfrm>
            <a:off x="8260889" y="-45827"/>
            <a:ext cx="2643421" cy="32097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binaryBuff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3506D10-77E8-42BF-9E0B-2B24A98D2AB2}"/>
              </a:ext>
            </a:extLst>
          </p:cNvPr>
          <p:cNvSpPr/>
          <p:nvPr/>
        </p:nvSpPr>
        <p:spPr>
          <a:xfrm>
            <a:off x="7550396" y="-178493"/>
            <a:ext cx="4285581" cy="145410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226ADCD0-B607-4B9E-924B-23A033E44D3C}"/>
              </a:ext>
            </a:extLst>
          </p:cNvPr>
          <p:cNvSpPr/>
          <p:nvPr/>
        </p:nvSpPr>
        <p:spPr>
          <a:xfrm>
            <a:off x="7652350" y="365224"/>
            <a:ext cx="4097604" cy="796091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解析读取的网络数据流，按照包头（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head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0xFA5A)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、包尾（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tail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0xFEEEFEEE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+ 8Bytes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分片，存储到</a:t>
            </a:r>
            <a:r>
              <a:rPr lang="en-US" altLang="zh-C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binaryBuff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B6849533-6CD5-4CAD-8C61-FD9B29A443FB}"/>
              </a:ext>
            </a:extLst>
          </p:cNvPr>
          <p:cNvSpPr/>
          <p:nvPr/>
        </p:nvSpPr>
        <p:spPr>
          <a:xfrm>
            <a:off x="7956338" y="3510492"/>
            <a:ext cx="2123024" cy="32097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decodingData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9FE72E01-072D-4EC7-90C4-1D29BA77A03D}"/>
              </a:ext>
            </a:extLst>
          </p:cNvPr>
          <p:cNvSpPr/>
          <p:nvPr/>
        </p:nvSpPr>
        <p:spPr>
          <a:xfrm>
            <a:off x="7956338" y="3881402"/>
            <a:ext cx="2123025" cy="32097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decodingStatus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E12AEC0-42E1-40CA-8051-4669D6228FF6}"/>
              </a:ext>
            </a:extLst>
          </p:cNvPr>
          <p:cNvSpPr/>
          <p:nvPr/>
        </p:nvSpPr>
        <p:spPr>
          <a:xfrm>
            <a:off x="7075609" y="3077914"/>
            <a:ext cx="3884481" cy="1869249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65C39144-CC2A-4E87-82F4-AEC05EBB0E81}"/>
              </a:ext>
            </a:extLst>
          </p:cNvPr>
          <p:cNvSpPr/>
          <p:nvPr/>
        </p:nvSpPr>
        <p:spPr>
          <a:xfrm>
            <a:off x="7205458" y="4342844"/>
            <a:ext cx="3698852" cy="490019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解析读取的网络数据流，获取探测器状态数据及缪子测量数据。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69277C23-554F-4070-8D7E-659867B6F92A}"/>
              </a:ext>
            </a:extLst>
          </p:cNvPr>
          <p:cNvSpPr txBox="1"/>
          <p:nvPr/>
        </p:nvSpPr>
        <p:spPr>
          <a:xfrm>
            <a:off x="6622712" y="5159570"/>
            <a:ext cx="4650816" cy="3693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addToDataSet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timeTag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2FFF2122-53A7-4855-94BF-D94F7454A5DF}"/>
              </a:ext>
            </a:extLst>
          </p:cNvPr>
          <p:cNvCxnSpPr>
            <a:stCxn id="42" idx="3"/>
            <a:endCxn id="85" idx="1"/>
          </p:cNvCxnSpPr>
          <p:nvPr/>
        </p:nvCxnSpPr>
        <p:spPr>
          <a:xfrm>
            <a:off x="6280832" y="2649978"/>
            <a:ext cx="341880" cy="2694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3FDA83E7-0CB0-470B-A03B-52269042117D}"/>
              </a:ext>
            </a:extLst>
          </p:cNvPr>
          <p:cNvCxnSpPr>
            <a:cxnSpLocks/>
            <a:stCxn id="58" idx="2"/>
            <a:endCxn id="81" idx="0"/>
          </p:cNvCxnSpPr>
          <p:nvPr/>
        </p:nvCxnSpPr>
        <p:spPr>
          <a:xfrm flipH="1">
            <a:off x="9017850" y="2832948"/>
            <a:ext cx="4053" cy="24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52B24A68-EB37-4C74-B562-C6FD2FC08510}"/>
              </a:ext>
            </a:extLst>
          </p:cNvPr>
          <p:cNvSpPr/>
          <p:nvPr/>
        </p:nvSpPr>
        <p:spPr>
          <a:xfrm>
            <a:off x="7978501" y="3137338"/>
            <a:ext cx="2123024" cy="32097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binaryBuff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46F72F9E-C9D8-4FD4-BD75-4B0B5255DD81}"/>
              </a:ext>
            </a:extLst>
          </p:cNvPr>
          <p:cNvCxnSpPr>
            <a:stCxn id="77" idx="3"/>
            <a:endCxn id="104" idx="3"/>
          </p:cNvCxnSpPr>
          <p:nvPr/>
        </p:nvCxnSpPr>
        <p:spPr>
          <a:xfrm flipH="1">
            <a:off x="10101525" y="548561"/>
            <a:ext cx="1734452" cy="2749267"/>
          </a:xfrm>
          <a:prstGeom prst="bentConnector3">
            <a:avLst>
              <a:gd name="adj1" fmla="val -131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25C6ABF9-A922-43CB-8103-AD240C7DAB7D}"/>
              </a:ext>
            </a:extLst>
          </p:cNvPr>
          <p:cNvSpPr/>
          <p:nvPr/>
        </p:nvSpPr>
        <p:spPr>
          <a:xfrm>
            <a:off x="7075609" y="6794198"/>
            <a:ext cx="3767039" cy="32097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timeTag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write_direct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B46867A6-8D6E-4DB4-A9F9-B8C0F7FD6D71}"/>
              </a:ext>
            </a:extLst>
          </p:cNvPr>
          <p:cNvSpPr/>
          <p:nvPr/>
        </p:nvSpPr>
        <p:spPr>
          <a:xfrm>
            <a:off x="6696495" y="6008397"/>
            <a:ext cx="2123025" cy="32097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resize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88D650D-1960-41B9-AF49-58B44237E3FA}"/>
              </a:ext>
            </a:extLst>
          </p:cNvPr>
          <p:cNvSpPr/>
          <p:nvPr/>
        </p:nvSpPr>
        <p:spPr>
          <a:xfrm>
            <a:off x="6622712" y="5934132"/>
            <a:ext cx="4650815" cy="162883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EDDB9543-B061-4CF0-9C83-CC4CC08789B7}"/>
              </a:ext>
            </a:extLst>
          </p:cNvPr>
          <p:cNvSpPr/>
          <p:nvPr/>
        </p:nvSpPr>
        <p:spPr>
          <a:xfrm>
            <a:off x="6678049" y="7167352"/>
            <a:ext cx="4540140" cy="320979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将数据添加到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h5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数据集。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C69306CA-D96B-4265-976F-B418B3419ED2}"/>
              </a:ext>
            </a:extLst>
          </p:cNvPr>
          <p:cNvSpPr/>
          <p:nvPr/>
        </p:nvSpPr>
        <p:spPr>
          <a:xfrm>
            <a:off x="7075610" y="6421044"/>
            <a:ext cx="3767040" cy="32097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write_direct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EA7165B4-64D0-4249-8A6E-420732E21BA7}"/>
              </a:ext>
            </a:extLst>
          </p:cNvPr>
          <p:cNvSpPr/>
          <p:nvPr/>
        </p:nvSpPr>
        <p:spPr>
          <a:xfrm>
            <a:off x="8856411" y="5997603"/>
            <a:ext cx="2380224" cy="32097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timeTag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resize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44DAE425-8DFA-49A9-86C4-DA7B18D8E611}"/>
              </a:ext>
            </a:extLst>
          </p:cNvPr>
          <p:cNvCxnSpPr>
            <a:stCxn id="81" idx="3"/>
            <a:endCxn id="115" idx="3"/>
          </p:cNvCxnSpPr>
          <p:nvPr/>
        </p:nvCxnSpPr>
        <p:spPr>
          <a:xfrm>
            <a:off x="10960090" y="4012539"/>
            <a:ext cx="313437" cy="2736012"/>
          </a:xfrm>
          <a:prstGeom prst="bentConnector3">
            <a:avLst>
              <a:gd name="adj1" fmla="val 4251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3F3680C-3918-484C-AA21-30C653D3083A}"/>
              </a:ext>
            </a:extLst>
          </p:cNvPr>
          <p:cNvSpPr txBox="1"/>
          <p:nvPr/>
        </p:nvSpPr>
        <p:spPr>
          <a:xfrm>
            <a:off x="11455645" y="4382987"/>
            <a:ext cx="1905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获取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timetag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Posture</a:t>
            </a:r>
          </a:p>
          <a:p>
            <a:pPr algn="ctr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型探测器）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3F35A640-7813-4BF5-9B18-4276287BA514}"/>
              </a:ext>
            </a:extLst>
          </p:cNvPr>
          <p:cNvSpPr/>
          <p:nvPr/>
        </p:nvSpPr>
        <p:spPr>
          <a:xfrm>
            <a:off x="-317379" y="4804968"/>
            <a:ext cx="3449567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measure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stopMeasure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9ECFFA8-374B-4AEB-94D7-D9D7EBFF3361}"/>
              </a:ext>
            </a:extLst>
          </p:cNvPr>
          <p:cNvSpPr/>
          <p:nvPr/>
        </p:nvSpPr>
        <p:spPr>
          <a:xfrm>
            <a:off x="-265604" y="6153486"/>
            <a:ext cx="3449567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measure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status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showMeasureStatus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9ECB48F6-D202-49DE-A145-274D8556FEE3}"/>
              </a:ext>
            </a:extLst>
          </p:cNvPr>
          <p:cNvSpPr/>
          <p:nvPr/>
        </p:nvSpPr>
        <p:spPr>
          <a:xfrm>
            <a:off x="4023613" y="4804969"/>
            <a:ext cx="1073879" cy="498202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结束测量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EFEF6408-A5EE-43D6-BA52-3D5C2CA284C1}"/>
              </a:ext>
            </a:extLst>
          </p:cNvPr>
          <p:cNvCxnSpPr>
            <a:stCxn id="123" idx="3"/>
            <a:endCxn id="126" idx="1"/>
          </p:cNvCxnSpPr>
          <p:nvPr/>
        </p:nvCxnSpPr>
        <p:spPr>
          <a:xfrm>
            <a:off x="3132188" y="5054069"/>
            <a:ext cx="89142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54797B82-2860-4495-A8EF-28E937E0B21C}"/>
              </a:ext>
            </a:extLst>
          </p:cNvPr>
          <p:cNvSpPr/>
          <p:nvPr/>
        </p:nvSpPr>
        <p:spPr>
          <a:xfrm>
            <a:off x="3981490" y="6153486"/>
            <a:ext cx="1073879" cy="498202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持续显示测量状态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40B0662F-0CF7-443B-9256-FEF5F4425F5F}"/>
              </a:ext>
            </a:extLst>
          </p:cNvPr>
          <p:cNvCxnSpPr>
            <a:stCxn id="124" idx="3"/>
            <a:endCxn id="129" idx="1"/>
          </p:cNvCxnSpPr>
          <p:nvPr/>
        </p:nvCxnSpPr>
        <p:spPr>
          <a:xfrm>
            <a:off x="3183963" y="6402587"/>
            <a:ext cx="797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04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BED583-373D-4445-AD48-B35E6D970D22}"/>
              </a:ext>
            </a:extLst>
          </p:cNvPr>
          <p:cNvSpPr/>
          <p:nvPr/>
        </p:nvSpPr>
        <p:spPr>
          <a:xfrm>
            <a:off x="586740" y="685800"/>
            <a:ext cx="3974979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connectServer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start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startLinkServer</a:t>
            </a:r>
            <a:endParaRPr lang="zh-CN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3D21CD-3552-4251-B178-11B5E04A2972}"/>
              </a:ext>
            </a:extLst>
          </p:cNvPr>
          <p:cNvSpPr/>
          <p:nvPr/>
        </p:nvSpPr>
        <p:spPr>
          <a:xfrm>
            <a:off x="461733" y="4079371"/>
            <a:ext cx="3974979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connectServer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stopLinkServer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192AF13-512A-4415-BCDD-74BD2E6AC6D2}"/>
              </a:ext>
            </a:extLst>
          </p:cNvPr>
          <p:cNvSpPr/>
          <p:nvPr/>
        </p:nvSpPr>
        <p:spPr>
          <a:xfrm>
            <a:off x="5453144" y="685800"/>
            <a:ext cx="1073879" cy="498202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开始连接服务器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3945325-D91A-4272-A062-D268FB347903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561719" y="934901"/>
            <a:ext cx="891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6886175-B33C-4274-B7C3-27D69759FDA7}"/>
              </a:ext>
            </a:extLst>
          </p:cNvPr>
          <p:cNvSpPr/>
          <p:nvPr/>
        </p:nvSpPr>
        <p:spPr>
          <a:xfrm>
            <a:off x="5252147" y="4079371"/>
            <a:ext cx="1073879" cy="498202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结束服务器连接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5548AC5-6E01-4818-90A0-8908D581505C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436712" y="4328472"/>
            <a:ext cx="8154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456CFC6-CED1-4C3A-A516-337FE24FC7D8}"/>
              </a:ext>
            </a:extLst>
          </p:cNvPr>
          <p:cNvSpPr/>
          <p:nvPr/>
        </p:nvSpPr>
        <p:spPr>
          <a:xfrm>
            <a:off x="586740" y="1662532"/>
            <a:ext cx="1783639" cy="32618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threadForServer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A20D5B9-3866-41A4-AD4E-CE51232D16A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478560" y="1184002"/>
            <a:ext cx="0" cy="478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2E5BC3AC-5B59-4BFE-8CD1-E0A4D1D93AFA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 flipH="1">
            <a:off x="1478559" y="1988721"/>
            <a:ext cx="1" cy="267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07D3B52-4346-4D27-A91C-4A5AF61A2361}"/>
              </a:ext>
            </a:extLst>
          </p:cNvPr>
          <p:cNvSpPr/>
          <p:nvPr/>
        </p:nvSpPr>
        <p:spPr>
          <a:xfrm>
            <a:off x="3359861" y="1662532"/>
            <a:ext cx="2153703" cy="32618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linkServer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A985E4-1816-4725-BE8E-0033850CA585}"/>
              </a:ext>
            </a:extLst>
          </p:cNvPr>
          <p:cNvSpPr/>
          <p:nvPr/>
        </p:nvSpPr>
        <p:spPr>
          <a:xfrm>
            <a:off x="3091905" y="1384693"/>
            <a:ext cx="8034820" cy="2416839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09800D3-BA6E-40B3-912D-33AC641F90B9}"/>
              </a:ext>
            </a:extLst>
          </p:cNvPr>
          <p:cNvSpPr/>
          <p:nvPr/>
        </p:nvSpPr>
        <p:spPr>
          <a:xfrm>
            <a:off x="347687" y="2256339"/>
            <a:ext cx="2261744" cy="796091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建立连接服务器的线程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93CD278-348A-4F21-AF8F-F88B106B0DD7}"/>
              </a:ext>
            </a:extLst>
          </p:cNvPr>
          <p:cNvSpPr/>
          <p:nvPr/>
        </p:nvSpPr>
        <p:spPr>
          <a:xfrm>
            <a:off x="3679513" y="3089225"/>
            <a:ext cx="1514398" cy="55790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devSlaver.Host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devSlaver.Port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1" name="连接符: 肘形 28">
            <a:extLst>
              <a:ext uri="{FF2B5EF4-FFF2-40B4-BE49-F238E27FC236}">
                <a16:creationId xmlns:a16="http://schemas.microsoft.com/office/drawing/2014/main" id="{7FD01E2A-5F47-4BA0-B628-116A264F0B71}"/>
              </a:ext>
            </a:extLst>
          </p:cNvPr>
          <p:cNvCxnSpPr>
            <a:cxnSpLocks/>
            <a:stCxn id="16" idx="2"/>
            <a:endCxn id="64" idx="0"/>
          </p:cNvCxnSpPr>
          <p:nvPr/>
        </p:nvCxnSpPr>
        <p:spPr>
          <a:xfrm flipH="1">
            <a:off x="4436712" y="1988721"/>
            <a:ext cx="1" cy="295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63594C2-6A22-436F-92B3-2ABB973125B9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2370379" y="1825627"/>
            <a:ext cx="9894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B699160-B1BB-4467-A09D-213A07D907F5}"/>
              </a:ext>
            </a:extLst>
          </p:cNvPr>
          <p:cNvCxnSpPr>
            <a:cxnSpLocks/>
            <a:stCxn id="16" idx="3"/>
            <a:endCxn id="57" idx="1"/>
          </p:cNvCxnSpPr>
          <p:nvPr/>
        </p:nvCxnSpPr>
        <p:spPr>
          <a:xfrm>
            <a:off x="5513564" y="1825627"/>
            <a:ext cx="2931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4ABCF8F-55E5-44CC-AA05-B19F8E82DC65}"/>
              </a:ext>
            </a:extLst>
          </p:cNvPr>
          <p:cNvSpPr/>
          <p:nvPr/>
        </p:nvSpPr>
        <p:spPr>
          <a:xfrm>
            <a:off x="8445165" y="1662532"/>
            <a:ext cx="2153703" cy="32618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oneConnectForServer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CDCEB996-F87D-4436-8E3F-1E307656E1C1}"/>
              </a:ext>
            </a:extLst>
          </p:cNvPr>
          <p:cNvSpPr/>
          <p:nvPr/>
        </p:nvSpPr>
        <p:spPr>
          <a:xfrm>
            <a:off x="3517160" y="2284506"/>
            <a:ext cx="1839104" cy="55790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devSlaver._init_.py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66C9608-BC0B-4C0B-AB71-21BE8EE59C82}"/>
              </a:ext>
            </a:extLst>
          </p:cNvPr>
          <p:cNvCxnSpPr>
            <a:stCxn id="64" idx="2"/>
            <a:endCxn id="20" idx="0"/>
          </p:cNvCxnSpPr>
          <p:nvPr/>
        </p:nvCxnSpPr>
        <p:spPr>
          <a:xfrm>
            <a:off x="4436712" y="2842411"/>
            <a:ext cx="0" cy="246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D6BD73FA-E7C7-4143-8D7C-500648EC30F2}"/>
              </a:ext>
            </a:extLst>
          </p:cNvPr>
          <p:cNvSpPr txBox="1"/>
          <p:nvPr/>
        </p:nvSpPr>
        <p:spPr>
          <a:xfrm>
            <a:off x="5696918" y="1500943"/>
            <a:ext cx="2564892" cy="30777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getMsgFromServer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()--true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6" name="连接符: 肘形 28">
            <a:extLst>
              <a:ext uri="{FF2B5EF4-FFF2-40B4-BE49-F238E27FC236}">
                <a16:creationId xmlns:a16="http://schemas.microsoft.com/office/drawing/2014/main" id="{6DF552B2-92A0-435C-9D6C-7668B286B188}"/>
              </a:ext>
            </a:extLst>
          </p:cNvPr>
          <p:cNvCxnSpPr>
            <a:cxnSpLocks/>
            <a:stCxn id="57" idx="2"/>
            <a:endCxn id="77" idx="0"/>
          </p:cNvCxnSpPr>
          <p:nvPr/>
        </p:nvCxnSpPr>
        <p:spPr>
          <a:xfrm flipH="1">
            <a:off x="9522016" y="1988721"/>
            <a:ext cx="1" cy="449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0C111CA6-04E2-494E-93DB-A2615B3ED436}"/>
              </a:ext>
            </a:extLst>
          </p:cNvPr>
          <p:cNvSpPr/>
          <p:nvPr/>
        </p:nvSpPr>
        <p:spPr>
          <a:xfrm>
            <a:off x="8353487" y="2438512"/>
            <a:ext cx="2337058" cy="557905"/>
          </a:xfrm>
          <a:prstGeom prst="roundRect">
            <a:avLst>
              <a:gd name="adj" fmla="val 0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connectSock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sendall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8E549ED8-74BA-4530-9261-68ECA4C84039}"/>
              </a:ext>
            </a:extLst>
          </p:cNvPr>
          <p:cNvSpPr/>
          <p:nvPr/>
        </p:nvSpPr>
        <p:spPr>
          <a:xfrm>
            <a:off x="461733" y="5806174"/>
            <a:ext cx="3974979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endParaRPr lang="en-US" altLang="zh-CN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printSlaverStatus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8DCEE4CE-CE66-4543-B05F-D9078DA3D9C6}"/>
              </a:ext>
            </a:extLst>
          </p:cNvPr>
          <p:cNvSpPr/>
          <p:nvPr/>
        </p:nvSpPr>
        <p:spPr>
          <a:xfrm>
            <a:off x="5328347" y="5520424"/>
            <a:ext cx="3134386" cy="1069702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打印当前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slaver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状态，包括是否连接上服务器，是否在测量，配置文件路径，当前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h5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文件路径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下一次采集的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h5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路径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9BD0EE2D-A1AC-44E1-9AD8-86AAA0D42C77}"/>
              </a:ext>
            </a:extLst>
          </p:cNvPr>
          <p:cNvCxnSpPr>
            <a:cxnSpLocks/>
            <a:stCxn id="83" idx="3"/>
            <a:endCxn id="84" idx="1"/>
          </p:cNvCxnSpPr>
          <p:nvPr/>
        </p:nvCxnSpPr>
        <p:spPr>
          <a:xfrm>
            <a:off x="4436712" y="6055275"/>
            <a:ext cx="8916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519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A1C95D1-AB42-4FC0-A952-021D5C8850A0}"/>
              </a:ext>
            </a:extLst>
          </p:cNvPr>
          <p:cNvSpPr/>
          <p:nvPr/>
        </p:nvSpPr>
        <p:spPr>
          <a:xfrm>
            <a:off x="128693" y="629920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energySpectrum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-t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showEnergySpectrum_terminal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E5EE63-51E0-48C5-BB34-851BAAD27EEB}"/>
              </a:ext>
            </a:extLst>
          </p:cNvPr>
          <p:cNvSpPr/>
          <p:nvPr/>
        </p:nvSpPr>
        <p:spPr>
          <a:xfrm>
            <a:off x="128693" y="4475454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energySpectrum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-qt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showEnergySpectrum_qt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C801-D299-459B-A555-33B9D26FFB35}"/>
              </a:ext>
            </a:extLst>
          </p:cNvPr>
          <p:cNvSpPr/>
          <p:nvPr/>
        </p:nvSpPr>
        <p:spPr>
          <a:xfrm>
            <a:off x="128693" y="2123982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triggerEvent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-t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showTriggerStatus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3905B7-BB0F-4851-AF97-4335AD219E4A}"/>
              </a:ext>
            </a:extLst>
          </p:cNvPr>
          <p:cNvSpPr/>
          <p:nvPr/>
        </p:nvSpPr>
        <p:spPr>
          <a:xfrm>
            <a:off x="128693" y="5061890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triggerEvent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-qt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showTriggerStatus_qt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47CBDF-9951-4E7E-9549-D0F920E0146D}"/>
              </a:ext>
            </a:extLst>
          </p:cNvPr>
          <p:cNvSpPr txBox="1"/>
          <p:nvPr/>
        </p:nvSpPr>
        <p:spPr>
          <a:xfrm>
            <a:off x="4919133" y="4877224"/>
            <a:ext cx="361526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subPlotWin_singal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06C2CBCB-2E20-43C1-8E66-8E9556ABD96F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>
            <a:off x="4296833" y="4724555"/>
            <a:ext cx="622300" cy="3373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4F7F0180-090A-485C-B481-ABF4C3DEF216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4296833" y="5061890"/>
            <a:ext cx="622300" cy="2491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7D69A47-D44F-41C1-A01E-8B02A5B09FE1}"/>
              </a:ext>
            </a:extLst>
          </p:cNvPr>
          <p:cNvSpPr txBox="1"/>
          <p:nvPr/>
        </p:nvSpPr>
        <p:spPr>
          <a:xfrm>
            <a:off x="4837853" y="694355"/>
            <a:ext cx="443484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tuiPlot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plotESInTerminal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0A71562-884F-418F-B90F-19AD26C19071}"/>
              </a:ext>
            </a:extLst>
          </p:cNvPr>
          <p:cNvSpPr txBox="1"/>
          <p:nvPr/>
        </p:nvSpPr>
        <p:spPr>
          <a:xfrm>
            <a:off x="4919133" y="2188417"/>
            <a:ext cx="6839373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tuiPlot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plotTriggerStatus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terminalCycleTag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6FCF660-7084-499B-B815-86F275935799}"/>
              </a:ext>
            </a:extLst>
          </p:cNvPr>
          <p:cNvCxnSpPr>
            <a:stCxn id="14" idx="3"/>
            <a:endCxn id="25" idx="1"/>
          </p:cNvCxnSpPr>
          <p:nvPr/>
        </p:nvCxnSpPr>
        <p:spPr>
          <a:xfrm>
            <a:off x="4296833" y="879021"/>
            <a:ext cx="541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1D00459-DED4-41C9-9F0A-F1754EB934D9}"/>
              </a:ext>
            </a:extLst>
          </p:cNvPr>
          <p:cNvCxnSpPr>
            <a:cxnSpLocks/>
            <a:stCxn id="16" idx="3"/>
            <a:endCxn id="27" idx="1"/>
          </p:cNvCxnSpPr>
          <p:nvPr/>
        </p:nvCxnSpPr>
        <p:spPr>
          <a:xfrm>
            <a:off x="4296833" y="2373083"/>
            <a:ext cx="622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47B400F-3A4B-4A6C-9B10-B990FDCE6A63}"/>
              </a:ext>
            </a:extLst>
          </p:cNvPr>
          <p:cNvSpPr/>
          <p:nvPr/>
        </p:nvSpPr>
        <p:spPr>
          <a:xfrm>
            <a:off x="5749253" y="5650470"/>
            <a:ext cx="1955026" cy="55790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devSlaver.graphy.py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409D0C1-EB13-48A3-9122-C440838C9B9A}"/>
              </a:ext>
            </a:extLst>
          </p:cNvPr>
          <p:cNvCxnSpPr>
            <a:stCxn id="33" idx="0"/>
            <a:endCxn id="19" idx="2"/>
          </p:cNvCxnSpPr>
          <p:nvPr/>
        </p:nvCxnSpPr>
        <p:spPr>
          <a:xfrm flipV="1">
            <a:off x="6726766" y="5246556"/>
            <a:ext cx="1" cy="40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21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A1C95D1-AB42-4FC0-A952-021D5C8850A0}"/>
              </a:ext>
            </a:extLst>
          </p:cNvPr>
          <p:cNvSpPr/>
          <p:nvPr/>
        </p:nvSpPr>
        <p:spPr>
          <a:xfrm>
            <a:off x="0" y="0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configuration -t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getConfigureFile_input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E5EE63-51E0-48C5-BB34-851BAAD27EEB}"/>
              </a:ext>
            </a:extLst>
          </p:cNvPr>
          <p:cNvSpPr/>
          <p:nvPr/>
        </p:nvSpPr>
        <p:spPr>
          <a:xfrm>
            <a:off x="0" y="576760"/>
            <a:ext cx="4168140" cy="74403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configuration –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d</a:t>
            </a:r>
            <a:endParaRPr lang="en-US" altLang="zh-CN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configuration 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getConfigureFile_dialog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C801-D299-459B-A555-33B9D26FFB35}"/>
              </a:ext>
            </a:extLst>
          </p:cNvPr>
          <p:cNvSpPr/>
          <p:nvPr/>
        </p:nvSpPr>
        <p:spPr>
          <a:xfrm>
            <a:off x="0" y="2209556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measureMode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routine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setMeasureMode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C36A5E-64BA-4904-90C5-26FF000C620E}"/>
              </a:ext>
            </a:extLst>
          </p:cNvPr>
          <p:cNvSpPr/>
          <p:nvPr/>
        </p:nvSpPr>
        <p:spPr>
          <a:xfrm>
            <a:off x="0" y="1516380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dataPath</a:t>
            </a:r>
            <a:endParaRPr lang="en-US" altLang="zh-CN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setH5Path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D39357-F329-4777-A381-084A0D3F125F}"/>
              </a:ext>
            </a:extLst>
          </p:cNvPr>
          <p:cNvSpPr/>
          <p:nvPr/>
        </p:nvSpPr>
        <p:spPr>
          <a:xfrm>
            <a:off x="0" y="2786317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measureMode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baseline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setMeasureMode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A1869F-C63E-4F18-81B8-F756D782F400}"/>
              </a:ext>
            </a:extLst>
          </p:cNvPr>
          <p:cNvSpPr/>
          <p:nvPr/>
        </p:nvSpPr>
        <p:spPr>
          <a:xfrm>
            <a:off x="0" y="3363078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measureMode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all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setMeasureMode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8B35BA-B114-4182-BC6D-32F649DB8A10}"/>
              </a:ext>
            </a:extLst>
          </p:cNvPr>
          <p:cNvSpPr/>
          <p:nvPr/>
        </p:nvSpPr>
        <p:spPr>
          <a:xfrm>
            <a:off x="0" y="4053297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detectorType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plate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setDetectorType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854801-0DD8-4D30-B56B-1190614056A0}"/>
              </a:ext>
            </a:extLst>
          </p:cNvPr>
          <p:cNvSpPr/>
          <p:nvPr/>
        </p:nvSpPr>
        <p:spPr>
          <a:xfrm>
            <a:off x="0" y="5341620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dataBackup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enable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setEnableDataBackup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5B1CEA-5CC4-45E4-9CB3-4F2276691476}"/>
              </a:ext>
            </a:extLst>
          </p:cNvPr>
          <p:cNvSpPr/>
          <p:nvPr/>
        </p:nvSpPr>
        <p:spPr>
          <a:xfrm>
            <a:off x="0" y="4594317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detectorType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wellLog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setDetectorType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5756BC-08D3-4E52-BE5D-CE836017FE74}"/>
              </a:ext>
            </a:extLst>
          </p:cNvPr>
          <p:cNvSpPr/>
          <p:nvPr/>
        </p:nvSpPr>
        <p:spPr>
          <a:xfrm>
            <a:off x="0" y="5882640"/>
            <a:ext cx="4168140" cy="4982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altLang="zh-CN" sz="1600" i="0" dirty="0">
                <a:solidFill>
                  <a:srgbClr val="CE9178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dataBackup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CE9178"/>
                </a:solidFill>
                <a:latin typeface="Consolas" panose="020B0609020204030204" pitchFamily="49" charset="0"/>
              </a:rPr>
              <a:t>dis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able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作用域：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setEnableDataBackup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B1C2E30-4B45-41D6-BD99-FA864804EF7D}"/>
              </a:ext>
            </a:extLst>
          </p:cNvPr>
          <p:cNvSpPr/>
          <p:nvPr/>
        </p:nvSpPr>
        <p:spPr>
          <a:xfrm>
            <a:off x="4717907" y="59620"/>
            <a:ext cx="3518473" cy="378962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设置配置文件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基于命令行文字输入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D0890A5-F7DA-4044-ABE1-14C06DC30BDB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4168140" y="249101"/>
            <a:ext cx="549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5F5285C-DCF2-48D9-A5A6-576083746D1F}"/>
              </a:ext>
            </a:extLst>
          </p:cNvPr>
          <p:cNvSpPr/>
          <p:nvPr/>
        </p:nvSpPr>
        <p:spPr>
          <a:xfrm>
            <a:off x="4717907" y="759296"/>
            <a:ext cx="3518473" cy="378962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设置配置文件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基于命令行的对话框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BE1C9B8-0861-4818-968A-8E09A3477A25}"/>
              </a:ext>
            </a:extLst>
          </p:cNvPr>
          <p:cNvCxnSpPr>
            <a:cxnSpLocks/>
            <a:stCxn id="15" idx="3"/>
            <a:endCxn id="23" idx="1"/>
          </p:cNvCxnSpPr>
          <p:nvPr/>
        </p:nvCxnSpPr>
        <p:spPr>
          <a:xfrm flipV="1">
            <a:off x="4168140" y="948777"/>
            <a:ext cx="54976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515F90E-11A0-4D26-B833-25715D63B92D}"/>
              </a:ext>
            </a:extLst>
          </p:cNvPr>
          <p:cNvSpPr txBox="1"/>
          <p:nvPr/>
        </p:nvSpPr>
        <p:spPr>
          <a:xfrm>
            <a:off x="8725753" y="313536"/>
            <a:ext cx="3364654" cy="3693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setConfigurePath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5B248E3B-EFA6-4C81-A4EF-B4DD1176D12C}"/>
              </a:ext>
            </a:extLst>
          </p:cNvPr>
          <p:cNvCxnSpPr>
            <a:stCxn id="18" idx="3"/>
            <a:endCxn id="36" idx="1"/>
          </p:cNvCxnSpPr>
          <p:nvPr/>
        </p:nvCxnSpPr>
        <p:spPr>
          <a:xfrm>
            <a:off x="8236380" y="249101"/>
            <a:ext cx="489373" cy="2491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77B20D37-C93C-4A04-A8FB-B8F12AD9FB28}"/>
              </a:ext>
            </a:extLst>
          </p:cNvPr>
          <p:cNvCxnSpPr>
            <a:stCxn id="23" idx="3"/>
            <a:endCxn id="36" idx="1"/>
          </p:cNvCxnSpPr>
          <p:nvPr/>
        </p:nvCxnSpPr>
        <p:spPr>
          <a:xfrm flipV="1">
            <a:off x="8236380" y="498202"/>
            <a:ext cx="489373" cy="4505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4F08A519-56CE-431C-8808-585867E0B5DF}"/>
              </a:ext>
            </a:extLst>
          </p:cNvPr>
          <p:cNvSpPr txBox="1"/>
          <p:nvPr/>
        </p:nvSpPr>
        <p:spPr>
          <a:xfrm>
            <a:off x="6948874" y="1580815"/>
            <a:ext cx="2965027" cy="3693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setH5FilePath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3B7D13E-E778-4F91-9CE5-C44E24DC4E01}"/>
              </a:ext>
            </a:extLst>
          </p:cNvPr>
          <p:cNvSpPr/>
          <p:nvPr/>
        </p:nvSpPr>
        <p:spPr>
          <a:xfrm>
            <a:off x="4732300" y="1576000"/>
            <a:ext cx="1652413" cy="378962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设置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h5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文件路径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AE5BDCA-FB94-42EE-A309-895F93C84504}"/>
              </a:ext>
            </a:extLst>
          </p:cNvPr>
          <p:cNvCxnSpPr>
            <a:stCxn id="7" idx="3"/>
            <a:endCxn id="47" idx="1"/>
          </p:cNvCxnSpPr>
          <p:nvPr/>
        </p:nvCxnSpPr>
        <p:spPr>
          <a:xfrm>
            <a:off x="4168140" y="1765481"/>
            <a:ext cx="564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0B657CA-4B1B-48B4-96B8-2F2C426F21F3}"/>
              </a:ext>
            </a:extLst>
          </p:cNvPr>
          <p:cNvCxnSpPr>
            <a:stCxn id="47" idx="3"/>
            <a:endCxn id="46" idx="1"/>
          </p:cNvCxnSpPr>
          <p:nvPr/>
        </p:nvCxnSpPr>
        <p:spPr>
          <a:xfrm>
            <a:off x="6384713" y="1765481"/>
            <a:ext cx="5641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06D6F11E-E7E6-4D24-9E04-17A77ABC1D09}"/>
              </a:ext>
            </a:extLst>
          </p:cNvPr>
          <p:cNvSpPr txBox="1"/>
          <p:nvPr/>
        </p:nvSpPr>
        <p:spPr>
          <a:xfrm>
            <a:off x="8742856" y="2530636"/>
            <a:ext cx="2836334" cy="3693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setCheckMode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8534369-3127-4EF4-8E66-3E34989ADF4A}"/>
              </a:ext>
            </a:extLst>
          </p:cNvPr>
          <p:cNvSpPr txBox="1"/>
          <p:nvPr/>
        </p:nvSpPr>
        <p:spPr>
          <a:xfrm>
            <a:off x="8742856" y="4355583"/>
            <a:ext cx="3208867" cy="3693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setDetectorType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7D9F6FC-2E8F-4859-B0E7-9F9AFA8E85CC}"/>
              </a:ext>
            </a:extLst>
          </p:cNvPr>
          <p:cNvSpPr txBox="1"/>
          <p:nvPr/>
        </p:nvSpPr>
        <p:spPr>
          <a:xfrm>
            <a:off x="7372660" y="5655156"/>
            <a:ext cx="3716867" cy="3693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MySlaver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setEnableDataBackup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E0B560B7-B333-40FD-8EFE-931265578510}"/>
              </a:ext>
            </a:extLst>
          </p:cNvPr>
          <p:cNvSpPr/>
          <p:nvPr/>
        </p:nvSpPr>
        <p:spPr>
          <a:xfrm>
            <a:off x="4763948" y="2345935"/>
            <a:ext cx="3277937" cy="750738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只保留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H==1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12bit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数据；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只保留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H==0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12bit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数据；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不管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位的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12bit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数据都保留。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1BCE9B7-12F1-46D1-8FEE-EBBF66946531}"/>
              </a:ext>
            </a:extLst>
          </p:cNvPr>
          <p:cNvSpPr/>
          <p:nvPr/>
        </p:nvSpPr>
        <p:spPr>
          <a:xfrm>
            <a:off x="5623999" y="3442546"/>
            <a:ext cx="1557833" cy="37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{00GH | 12bit}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7011878-59B7-4101-A5EB-5C37E250BFB1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 flipH="1">
            <a:off x="6402916" y="3096673"/>
            <a:ext cx="1" cy="3458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3241EE75-92DF-4784-990C-69A6641AE950}"/>
              </a:ext>
            </a:extLst>
          </p:cNvPr>
          <p:cNvCxnSpPr>
            <a:stCxn id="16" idx="3"/>
            <a:endCxn id="61" idx="1"/>
          </p:cNvCxnSpPr>
          <p:nvPr/>
        </p:nvCxnSpPr>
        <p:spPr>
          <a:xfrm>
            <a:off x="4168140" y="2458657"/>
            <a:ext cx="595808" cy="2626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EB05511E-0AA0-4EC6-A4D0-41ECCC2C3992}"/>
              </a:ext>
            </a:extLst>
          </p:cNvPr>
          <p:cNvCxnSpPr>
            <a:stCxn id="8" idx="3"/>
            <a:endCxn id="61" idx="1"/>
          </p:cNvCxnSpPr>
          <p:nvPr/>
        </p:nvCxnSpPr>
        <p:spPr>
          <a:xfrm flipV="1">
            <a:off x="4168140" y="2721304"/>
            <a:ext cx="595808" cy="3141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67DC6F69-4414-478F-913A-F5B0F27A23BD}"/>
              </a:ext>
            </a:extLst>
          </p:cNvPr>
          <p:cNvCxnSpPr>
            <a:stCxn id="9" idx="3"/>
            <a:endCxn id="61" idx="1"/>
          </p:cNvCxnSpPr>
          <p:nvPr/>
        </p:nvCxnSpPr>
        <p:spPr>
          <a:xfrm flipV="1">
            <a:off x="4168140" y="2721304"/>
            <a:ext cx="595808" cy="8908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4C8412E6-5346-406E-A24D-C0DD341803AA}"/>
              </a:ext>
            </a:extLst>
          </p:cNvPr>
          <p:cNvCxnSpPr>
            <a:stCxn id="61" idx="3"/>
            <a:endCxn id="56" idx="1"/>
          </p:cNvCxnSpPr>
          <p:nvPr/>
        </p:nvCxnSpPr>
        <p:spPr>
          <a:xfrm flipV="1">
            <a:off x="8041885" y="2715302"/>
            <a:ext cx="700971" cy="6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1A4CA519-CDD9-4D42-8B7A-3ADC891B3C77}"/>
              </a:ext>
            </a:extLst>
          </p:cNvPr>
          <p:cNvSpPr/>
          <p:nvPr/>
        </p:nvSpPr>
        <p:spPr>
          <a:xfrm>
            <a:off x="4763948" y="4164880"/>
            <a:ext cx="3277937" cy="750738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0---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平板型探测器数据采集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1---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井眼型探测器数据采集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E8C89F45-74D8-4282-B8FE-AFC9DCE76190}"/>
              </a:ext>
            </a:extLst>
          </p:cNvPr>
          <p:cNvCxnSpPr>
            <a:stCxn id="10" idx="3"/>
            <a:endCxn id="75" idx="1"/>
          </p:cNvCxnSpPr>
          <p:nvPr/>
        </p:nvCxnSpPr>
        <p:spPr>
          <a:xfrm>
            <a:off x="4168140" y="4302398"/>
            <a:ext cx="595808" cy="2378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9D7B8DF2-52F9-4BDA-A57F-6566C89BE5A9}"/>
              </a:ext>
            </a:extLst>
          </p:cNvPr>
          <p:cNvCxnSpPr>
            <a:stCxn id="12" idx="3"/>
            <a:endCxn id="75" idx="1"/>
          </p:cNvCxnSpPr>
          <p:nvPr/>
        </p:nvCxnSpPr>
        <p:spPr>
          <a:xfrm flipV="1">
            <a:off x="4168140" y="4540249"/>
            <a:ext cx="595808" cy="3031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A98B8F5C-E1C5-48A4-BAE3-2FAA86208002}"/>
              </a:ext>
            </a:extLst>
          </p:cNvPr>
          <p:cNvCxnSpPr>
            <a:stCxn id="75" idx="3"/>
            <a:endCxn id="58" idx="1"/>
          </p:cNvCxnSpPr>
          <p:nvPr/>
        </p:nvCxnSpPr>
        <p:spPr>
          <a:xfrm>
            <a:off x="8041885" y="4540249"/>
            <a:ext cx="7009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FAC0FBC4-D1A0-46A7-A75C-837F134F8324}"/>
              </a:ext>
            </a:extLst>
          </p:cNvPr>
          <p:cNvSpPr txBox="1"/>
          <p:nvPr/>
        </p:nvSpPr>
        <p:spPr>
          <a:xfrm>
            <a:off x="8742857" y="3709252"/>
            <a:ext cx="2669956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h5Data_plate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5C4F177-FE58-486B-9681-EA7DAA0F56AE}"/>
              </a:ext>
            </a:extLst>
          </p:cNvPr>
          <p:cNvSpPr txBox="1"/>
          <p:nvPr/>
        </p:nvSpPr>
        <p:spPr>
          <a:xfrm>
            <a:off x="8742856" y="4966949"/>
            <a:ext cx="2669957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h5Data_log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7E9F1255-3345-4A46-B98D-219BA749CB71}"/>
              </a:ext>
            </a:extLst>
          </p:cNvPr>
          <p:cNvCxnSpPr>
            <a:stCxn id="75" idx="1"/>
            <a:endCxn id="75" idx="3"/>
          </p:cNvCxnSpPr>
          <p:nvPr/>
        </p:nvCxnSpPr>
        <p:spPr>
          <a:xfrm>
            <a:off x="4763948" y="4540249"/>
            <a:ext cx="3277937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1B576641-17C9-4B08-8B59-7BB0AB94FBF4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8041885" y="3893918"/>
            <a:ext cx="700972" cy="4024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4CFC9343-9BDC-4B5D-967F-F245C3A2667B}"/>
              </a:ext>
            </a:extLst>
          </p:cNvPr>
          <p:cNvCxnSpPr>
            <a:endCxn id="84" idx="1"/>
          </p:cNvCxnSpPr>
          <p:nvPr/>
        </p:nvCxnSpPr>
        <p:spPr>
          <a:xfrm>
            <a:off x="8041885" y="4724915"/>
            <a:ext cx="700971" cy="426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BA41E4E9-673C-4FFE-BF05-AACF6C676BB1}"/>
              </a:ext>
            </a:extLst>
          </p:cNvPr>
          <p:cNvSpPr/>
          <p:nvPr/>
        </p:nvSpPr>
        <p:spPr>
          <a:xfrm>
            <a:off x="4763948" y="5598789"/>
            <a:ext cx="2067399" cy="498203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设置是否备份数据。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9E4F1796-D4F8-4CA5-B8A0-27C464FF65C3}"/>
              </a:ext>
            </a:extLst>
          </p:cNvPr>
          <p:cNvCxnSpPr>
            <a:stCxn id="11" idx="3"/>
            <a:endCxn id="92" idx="1"/>
          </p:cNvCxnSpPr>
          <p:nvPr/>
        </p:nvCxnSpPr>
        <p:spPr>
          <a:xfrm>
            <a:off x="4168140" y="5590721"/>
            <a:ext cx="595808" cy="2571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B798B188-3C74-4C4F-8C8E-450449C0CC51}"/>
              </a:ext>
            </a:extLst>
          </p:cNvPr>
          <p:cNvCxnSpPr>
            <a:stCxn id="13" idx="3"/>
            <a:endCxn id="92" idx="1"/>
          </p:cNvCxnSpPr>
          <p:nvPr/>
        </p:nvCxnSpPr>
        <p:spPr>
          <a:xfrm flipV="1">
            <a:off x="4168140" y="5847891"/>
            <a:ext cx="595808" cy="2838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F154B857-8F01-4A19-93EB-4790DB2D3762}"/>
              </a:ext>
            </a:extLst>
          </p:cNvPr>
          <p:cNvCxnSpPr>
            <a:stCxn id="92" idx="3"/>
            <a:endCxn id="60" idx="1"/>
          </p:cNvCxnSpPr>
          <p:nvPr/>
        </p:nvCxnSpPr>
        <p:spPr>
          <a:xfrm flipV="1">
            <a:off x="6831347" y="5839822"/>
            <a:ext cx="541313" cy="8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38EC4D1-E7AA-473C-B94B-4B6B50C3656B}"/>
              </a:ext>
            </a:extLst>
          </p:cNvPr>
          <p:cNvSpPr txBox="1"/>
          <p:nvPr/>
        </p:nvSpPr>
        <p:spPr>
          <a:xfrm>
            <a:off x="7431512" y="6429048"/>
            <a:ext cx="3599161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decodeTool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enableDataBackup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A82E57AB-D631-4E17-A900-D532FB99C620}"/>
              </a:ext>
            </a:extLst>
          </p:cNvPr>
          <p:cNvCxnSpPr>
            <a:stCxn id="60" idx="2"/>
            <a:endCxn id="101" idx="0"/>
          </p:cNvCxnSpPr>
          <p:nvPr/>
        </p:nvCxnSpPr>
        <p:spPr>
          <a:xfrm flipH="1">
            <a:off x="9231093" y="6024488"/>
            <a:ext cx="1" cy="404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133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050B652-5B62-4C90-8D24-53590A166CC7}"/>
              </a:ext>
            </a:extLst>
          </p:cNvPr>
          <p:cNvSpPr/>
          <p:nvPr/>
        </p:nvSpPr>
        <p:spPr>
          <a:xfrm>
            <a:off x="2277541" y="1425304"/>
            <a:ext cx="758880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7841BE-B6E4-4248-A67B-C1F9ADE9B8A6}"/>
              </a:ext>
            </a:extLst>
          </p:cNvPr>
          <p:cNvSpPr/>
          <p:nvPr/>
        </p:nvSpPr>
        <p:spPr>
          <a:xfrm>
            <a:off x="3036420" y="1425304"/>
            <a:ext cx="3564939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Chn_0 --- Chn_35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D1D3B0-C30C-4AC3-936A-C88D42795E5E}"/>
              </a:ext>
            </a:extLst>
          </p:cNvPr>
          <p:cNvSpPr/>
          <p:nvPr/>
        </p:nvSpPr>
        <p:spPr>
          <a:xfrm>
            <a:off x="6605044" y="1425603"/>
            <a:ext cx="1574074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Temperature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7ED903-5DBD-4272-ADC0-04F5BFD2F0A9}"/>
              </a:ext>
            </a:extLst>
          </p:cNvPr>
          <p:cNvSpPr/>
          <p:nvPr/>
        </p:nvSpPr>
        <p:spPr>
          <a:xfrm>
            <a:off x="8182803" y="1425304"/>
            <a:ext cx="1217151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TriggerID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2921D0-0160-4CB3-B3AA-EF7B170EBB47}"/>
              </a:ext>
            </a:extLst>
          </p:cNvPr>
          <p:cNvSpPr/>
          <p:nvPr/>
        </p:nvSpPr>
        <p:spPr>
          <a:xfrm>
            <a:off x="9399955" y="1425304"/>
            <a:ext cx="1217150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BoardID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49342E-0143-4E7E-B9C6-CF0772700E8A}"/>
              </a:ext>
            </a:extLst>
          </p:cNvPr>
          <p:cNvSpPr/>
          <p:nvPr/>
        </p:nvSpPr>
        <p:spPr>
          <a:xfrm>
            <a:off x="10617105" y="1425304"/>
            <a:ext cx="1217150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TimeTag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9F9D1D-74C3-4CAC-89FF-DF0126284675}"/>
              </a:ext>
            </a:extLst>
          </p:cNvPr>
          <p:cNvSpPr txBox="1"/>
          <p:nvPr/>
        </p:nvSpPr>
        <p:spPr>
          <a:xfrm>
            <a:off x="48389" y="1448899"/>
            <a:ext cx="224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原始数据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HDF5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格式：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47AA9A-1AF8-435A-A936-F3D4415B6C18}"/>
              </a:ext>
            </a:extLst>
          </p:cNvPr>
          <p:cNvSpPr txBox="1"/>
          <p:nvPr/>
        </p:nvSpPr>
        <p:spPr>
          <a:xfrm>
            <a:off x="523135" y="5321305"/>
            <a:ext cx="139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obs.dat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文件：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1FF16C-17FD-4364-A45D-6CD7A2450A55}"/>
              </a:ext>
            </a:extLst>
          </p:cNvPr>
          <p:cNvSpPr/>
          <p:nvPr/>
        </p:nvSpPr>
        <p:spPr>
          <a:xfrm>
            <a:off x="1907908" y="5324977"/>
            <a:ext cx="875211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DetID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E0C8E3-B69B-46F1-BE9D-CEBBB9BE5FA0}"/>
              </a:ext>
            </a:extLst>
          </p:cNvPr>
          <p:cNvSpPr/>
          <p:nvPr/>
        </p:nvSpPr>
        <p:spPr>
          <a:xfrm>
            <a:off x="2783117" y="5324977"/>
            <a:ext cx="875211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DetX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E990B8-1B93-4E3B-99EB-4F22A8ACBEEC}"/>
              </a:ext>
            </a:extLst>
          </p:cNvPr>
          <p:cNvSpPr/>
          <p:nvPr/>
        </p:nvSpPr>
        <p:spPr>
          <a:xfrm>
            <a:off x="3658326" y="5324280"/>
            <a:ext cx="875210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DetY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C5A8BB-C9CC-4CC0-9452-93CF4BF8D1C6}"/>
              </a:ext>
            </a:extLst>
          </p:cNvPr>
          <p:cNvSpPr/>
          <p:nvPr/>
        </p:nvSpPr>
        <p:spPr>
          <a:xfrm>
            <a:off x="5408741" y="5322003"/>
            <a:ext cx="875207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Theta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3A730B-47A7-4849-A37D-811E5F556436}"/>
              </a:ext>
            </a:extLst>
          </p:cNvPr>
          <p:cNvSpPr/>
          <p:nvPr/>
        </p:nvSpPr>
        <p:spPr>
          <a:xfrm>
            <a:off x="7221007" y="5322003"/>
            <a:ext cx="813352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Ltopo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69C2C5-B8DA-47A1-A07A-13F47E554D03}"/>
              </a:ext>
            </a:extLst>
          </p:cNvPr>
          <p:cNvSpPr/>
          <p:nvPr/>
        </p:nvSpPr>
        <p:spPr>
          <a:xfrm>
            <a:off x="8034359" y="5322003"/>
            <a:ext cx="1574074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MeasLeff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C6643A-F35D-4D30-883D-716BDC9B2E1B}"/>
              </a:ext>
            </a:extLst>
          </p:cNvPr>
          <p:cNvSpPr/>
          <p:nvPr/>
        </p:nvSpPr>
        <p:spPr>
          <a:xfrm>
            <a:off x="4533533" y="5322189"/>
            <a:ext cx="875210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DetZ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323769-DF3C-4950-9F4A-0E0B104CE836}"/>
              </a:ext>
            </a:extLst>
          </p:cNvPr>
          <p:cNvSpPr/>
          <p:nvPr/>
        </p:nvSpPr>
        <p:spPr>
          <a:xfrm>
            <a:off x="6283948" y="5322003"/>
            <a:ext cx="937059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Phi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3B77755-36A3-44CE-BDC4-E021327478C8}"/>
              </a:ext>
            </a:extLst>
          </p:cNvPr>
          <p:cNvSpPr/>
          <p:nvPr/>
        </p:nvSpPr>
        <p:spPr>
          <a:xfrm>
            <a:off x="9608433" y="5322003"/>
            <a:ext cx="1574074" cy="431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MeasLeffErr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5D976F2-5F53-4561-A307-4E718FB2DD85}"/>
              </a:ext>
            </a:extLst>
          </p:cNvPr>
          <p:cNvSpPr txBox="1"/>
          <p:nvPr/>
        </p:nvSpPr>
        <p:spPr>
          <a:xfrm>
            <a:off x="1648625" y="4581241"/>
            <a:ext cx="139377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探测器编号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895B05D-F65F-44AE-83D5-9850BF5502C1}"/>
              </a:ext>
            </a:extLst>
          </p:cNvPr>
          <p:cNvSpPr txBox="1"/>
          <p:nvPr/>
        </p:nvSpPr>
        <p:spPr>
          <a:xfrm>
            <a:off x="1826047" y="6185357"/>
            <a:ext cx="433859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在地球坐标系中探测器的位置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1989DB4-EAAD-4A70-B8CB-EEA8DCF2E990}"/>
              </a:ext>
            </a:extLst>
          </p:cNvPr>
          <p:cNvSpPr txBox="1"/>
          <p:nvPr/>
        </p:nvSpPr>
        <p:spPr>
          <a:xfrm>
            <a:off x="4679684" y="4575393"/>
            <a:ext cx="320852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入射缪子的天顶角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θ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、方向角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φ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8B11A62-5E10-4E1B-9A91-C1F86ECED750}"/>
              </a:ext>
            </a:extLst>
          </p:cNvPr>
          <p:cNvSpPr txBox="1"/>
          <p:nvPr/>
        </p:nvSpPr>
        <p:spPr>
          <a:xfrm>
            <a:off x="6840646" y="6210874"/>
            <a:ext cx="157407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缪子路径长度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87CC4BE-4A75-4CA8-AB4E-CD028ECAEF13}"/>
              </a:ext>
            </a:extLst>
          </p:cNvPr>
          <p:cNvSpPr txBox="1"/>
          <p:nvPr/>
        </p:nvSpPr>
        <p:spPr>
          <a:xfrm>
            <a:off x="8034359" y="4575393"/>
            <a:ext cx="157407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实测等效长度 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D1ADA3-F140-4220-91AD-4A6FFD8D6006}"/>
              </a:ext>
            </a:extLst>
          </p:cNvPr>
          <p:cNvSpPr txBox="1"/>
          <p:nvPr/>
        </p:nvSpPr>
        <p:spPr>
          <a:xfrm>
            <a:off x="9225285" y="6185357"/>
            <a:ext cx="233996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实测等效长度误差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0DEAD83-9470-47EE-A5A0-10B5084477CE}"/>
              </a:ext>
            </a:extLst>
          </p:cNvPr>
          <p:cNvCxnSpPr>
            <a:cxnSpLocks/>
          </p:cNvCxnSpPr>
          <p:nvPr/>
        </p:nvCxnSpPr>
        <p:spPr>
          <a:xfrm flipH="1">
            <a:off x="1814717" y="5753077"/>
            <a:ext cx="962304" cy="43228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FEF5688-2C17-48A2-8526-ADFA97418A90}"/>
              </a:ext>
            </a:extLst>
          </p:cNvPr>
          <p:cNvCxnSpPr/>
          <p:nvPr/>
        </p:nvCxnSpPr>
        <p:spPr>
          <a:xfrm>
            <a:off x="5408741" y="5753077"/>
            <a:ext cx="755903" cy="43228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EE16759-4A19-4DC5-B94A-3E61479C8144}"/>
              </a:ext>
            </a:extLst>
          </p:cNvPr>
          <p:cNvCxnSpPr>
            <a:cxnSpLocks/>
          </p:cNvCxnSpPr>
          <p:nvPr/>
        </p:nvCxnSpPr>
        <p:spPr>
          <a:xfrm flipH="1" flipV="1">
            <a:off x="1648625" y="4949874"/>
            <a:ext cx="259284" cy="37213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7295BCE-6836-4520-8188-F2C5C3FF6F7B}"/>
              </a:ext>
            </a:extLst>
          </p:cNvPr>
          <p:cNvCxnSpPr>
            <a:cxnSpLocks/>
          </p:cNvCxnSpPr>
          <p:nvPr/>
        </p:nvCxnSpPr>
        <p:spPr>
          <a:xfrm flipV="1">
            <a:off x="2777021" y="4949524"/>
            <a:ext cx="265379" cy="37247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3385CE9-197A-4940-B37C-33E53A7906C5}"/>
              </a:ext>
            </a:extLst>
          </p:cNvPr>
          <p:cNvCxnSpPr/>
          <p:nvPr/>
        </p:nvCxnSpPr>
        <p:spPr>
          <a:xfrm flipH="1" flipV="1">
            <a:off x="4679684" y="4944725"/>
            <a:ext cx="729057" cy="37727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FC03575-CFB1-456A-87BB-C2B115A4E2F3}"/>
              </a:ext>
            </a:extLst>
          </p:cNvPr>
          <p:cNvCxnSpPr/>
          <p:nvPr/>
        </p:nvCxnSpPr>
        <p:spPr>
          <a:xfrm flipV="1">
            <a:off x="7221007" y="4940752"/>
            <a:ext cx="667205" cy="379346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B7B16189-FD5A-4A3D-B56D-5D51D16B0B55}"/>
              </a:ext>
            </a:extLst>
          </p:cNvPr>
          <p:cNvCxnSpPr/>
          <p:nvPr/>
        </p:nvCxnSpPr>
        <p:spPr>
          <a:xfrm flipH="1">
            <a:off x="6840646" y="5753077"/>
            <a:ext cx="380361" cy="457797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9E17B363-3A49-4BC6-B718-702A376FFCC7}"/>
              </a:ext>
            </a:extLst>
          </p:cNvPr>
          <p:cNvCxnSpPr/>
          <p:nvPr/>
        </p:nvCxnSpPr>
        <p:spPr>
          <a:xfrm>
            <a:off x="8040463" y="5753077"/>
            <a:ext cx="374256" cy="457797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47F1A261-79A4-4F1C-8147-0F492FBEE692}"/>
              </a:ext>
            </a:extLst>
          </p:cNvPr>
          <p:cNvCxnSpPr/>
          <p:nvPr/>
        </p:nvCxnSpPr>
        <p:spPr>
          <a:xfrm flipV="1">
            <a:off x="8034359" y="4940752"/>
            <a:ext cx="0" cy="379346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EDAF3F95-D90E-49F6-9E93-C32263D08662}"/>
              </a:ext>
            </a:extLst>
          </p:cNvPr>
          <p:cNvCxnSpPr/>
          <p:nvPr/>
        </p:nvCxnSpPr>
        <p:spPr>
          <a:xfrm flipV="1">
            <a:off x="9608433" y="4949524"/>
            <a:ext cx="0" cy="370574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CAD59FA5-B33C-4289-B787-ED04C478E0B6}"/>
              </a:ext>
            </a:extLst>
          </p:cNvPr>
          <p:cNvCxnSpPr/>
          <p:nvPr/>
        </p:nvCxnSpPr>
        <p:spPr>
          <a:xfrm flipH="1">
            <a:off x="9225285" y="5753077"/>
            <a:ext cx="383148" cy="43228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1DE7C22B-87DA-4798-A3E2-92CCD503026B}"/>
              </a:ext>
            </a:extLst>
          </p:cNvPr>
          <p:cNvCxnSpPr/>
          <p:nvPr/>
        </p:nvCxnSpPr>
        <p:spPr>
          <a:xfrm>
            <a:off x="11182507" y="5753077"/>
            <a:ext cx="382741" cy="43228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C8E3F86B-11BF-4BB7-A672-84CD76560A28}"/>
              </a:ext>
            </a:extLst>
          </p:cNvPr>
          <p:cNvSpPr txBox="1"/>
          <p:nvPr/>
        </p:nvSpPr>
        <p:spPr>
          <a:xfrm>
            <a:off x="2202373" y="2149416"/>
            <a:ext cx="91785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行编号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80D92C2-D0B4-45A9-8594-651F84CE262E}"/>
              </a:ext>
            </a:extLst>
          </p:cNvPr>
          <p:cNvSpPr txBox="1"/>
          <p:nvPr/>
        </p:nvSpPr>
        <p:spPr>
          <a:xfrm>
            <a:off x="10003752" y="755353"/>
            <a:ext cx="203495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信号被测量的时间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3683E5D-BD1B-441D-B29C-2B17BCFD5ABB}"/>
              </a:ext>
            </a:extLst>
          </p:cNvPr>
          <p:cNvSpPr txBox="1"/>
          <p:nvPr/>
        </p:nvSpPr>
        <p:spPr>
          <a:xfrm>
            <a:off x="9373139" y="2156997"/>
            <a:ext cx="133817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采集板编号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45A6391-0B05-4E73-8711-80A0F154924C}"/>
              </a:ext>
            </a:extLst>
          </p:cNvPr>
          <p:cNvSpPr txBox="1"/>
          <p:nvPr/>
        </p:nvSpPr>
        <p:spPr>
          <a:xfrm>
            <a:off x="8182803" y="762934"/>
            <a:ext cx="121715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触发编号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98CD614-ECA6-4651-A928-8AFC049CF763}"/>
              </a:ext>
            </a:extLst>
          </p:cNvPr>
          <p:cNvSpPr txBox="1"/>
          <p:nvPr/>
        </p:nvSpPr>
        <p:spPr>
          <a:xfrm>
            <a:off x="6601358" y="2149416"/>
            <a:ext cx="158143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采集板的温度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2C78DD3-F419-4A4E-B6F6-2B5190FDC4BA}"/>
              </a:ext>
            </a:extLst>
          </p:cNvPr>
          <p:cNvSpPr txBox="1"/>
          <p:nvPr/>
        </p:nvSpPr>
        <p:spPr>
          <a:xfrm>
            <a:off x="1891957" y="314960"/>
            <a:ext cx="53142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平板型探测器一个采集板上的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36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个通道，其数值大小为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ADC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，表示信号幅度，即沉积能量的多少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9465B201-3F58-4BA4-9332-A5FE6062F4A6}"/>
              </a:ext>
            </a:extLst>
          </p:cNvPr>
          <p:cNvCxnSpPr/>
          <p:nvPr/>
        </p:nvCxnSpPr>
        <p:spPr>
          <a:xfrm flipH="1">
            <a:off x="2202373" y="1856378"/>
            <a:ext cx="75168" cy="29303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83A77EBD-C56B-4D70-BFD9-C7F3E9D79626}"/>
              </a:ext>
            </a:extLst>
          </p:cNvPr>
          <p:cNvCxnSpPr/>
          <p:nvPr/>
        </p:nvCxnSpPr>
        <p:spPr>
          <a:xfrm>
            <a:off x="3032735" y="1843921"/>
            <a:ext cx="87495" cy="30549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79867BF8-01AE-4E75-8D94-77A78191AE18}"/>
              </a:ext>
            </a:extLst>
          </p:cNvPr>
          <p:cNvCxnSpPr/>
          <p:nvPr/>
        </p:nvCxnSpPr>
        <p:spPr>
          <a:xfrm flipH="1" flipV="1">
            <a:off x="1900497" y="964527"/>
            <a:ext cx="1132238" cy="45780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A3C0AE6A-5FAC-4076-BCBD-5CE76941D64A}"/>
              </a:ext>
            </a:extLst>
          </p:cNvPr>
          <p:cNvCxnSpPr/>
          <p:nvPr/>
        </p:nvCxnSpPr>
        <p:spPr>
          <a:xfrm flipV="1">
            <a:off x="6601359" y="961291"/>
            <a:ext cx="604870" cy="46104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463C74C6-D4E4-4B13-B9BA-2AE22E4D366C}"/>
              </a:ext>
            </a:extLst>
          </p:cNvPr>
          <p:cNvCxnSpPr/>
          <p:nvPr/>
        </p:nvCxnSpPr>
        <p:spPr>
          <a:xfrm>
            <a:off x="6601359" y="1856378"/>
            <a:ext cx="0" cy="29303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41E5780B-DC99-4179-BC90-5A7C300FF920}"/>
              </a:ext>
            </a:extLst>
          </p:cNvPr>
          <p:cNvCxnSpPr>
            <a:cxnSpLocks/>
          </p:cNvCxnSpPr>
          <p:nvPr/>
        </p:nvCxnSpPr>
        <p:spPr>
          <a:xfrm>
            <a:off x="8182803" y="1831464"/>
            <a:ext cx="0" cy="3143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DFF864AE-8C2F-451D-A0D0-02D01F0BCD60}"/>
              </a:ext>
            </a:extLst>
          </p:cNvPr>
          <p:cNvCxnSpPr/>
          <p:nvPr/>
        </p:nvCxnSpPr>
        <p:spPr>
          <a:xfrm flipV="1">
            <a:off x="8182803" y="1132266"/>
            <a:ext cx="0" cy="290064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3379B782-52EB-4558-BCC5-39C924F61711}"/>
              </a:ext>
            </a:extLst>
          </p:cNvPr>
          <p:cNvCxnSpPr/>
          <p:nvPr/>
        </p:nvCxnSpPr>
        <p:spPr>
          <a:xfrm flipV="1">
            <a:off x="9399953" y="1132266"/>
            <a:ext cx="0" cy="290064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493F03D0-A8D9-411B-85F8-6DC54520AA92}"/>
              </a:ext>
            </a:extLst>
          </p:cNvPr>
          <p:cNvCxnSpPr>
            <a:cxnSpLocks/>
          </p:cNvCxnSpPr>
          <p:nvPr/>
        </p:nvCxnSpPr>
        <p:spPr>
          <a:xfrm flipH="1">
            <a:off x="9373139" y="1843921"/>
            <a:ext cx="26814" cy="30549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617862B5-0228-49E4-BB79-3FCEF3630BB1}"/>
              </a:ext>
            </a:extLst>
          </p:cNvPr>
          <p:cNvCxnSpPr>
            <a:cxnSpLocks/>
          </p:cNvCxnSpPr>
          <p:nvPr/>
        </p:nvCxnSpPr>
        <p:spPr>
          <a:xfrm>
            <a:off x="10622334" y="1838093"/>
            <a:ext cx="88979" cy="318904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F1356F9B-A0EA-43F9-AB60-019D9A31AA77}"/>
              </a:ext>
            </a:extLst>
          </p:cNvPr>
          <p:cNvCxnSpPr>
            <a:cxnSpLocks/>
          </p:cNvCxnSpPr>
          <p:nvPr/>
        </p:nvCxnSpPr>
        <p:spPr>
          <a:xfrm flipH="1" flipV="1">
            <a:off x="10003752" y="1126590"/>
            <a:ext cx="613353" cy="29574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5549DD85-66EE-4601-B298-8A8F809CA3F9}"/>
              </a:ext>
            </a:extLst>
          </p:cNvPr>
          <p:cNvCxnSpPr>
            <a:cxnSpLocks/>
          </p:cNvCxnSpPr>
          <p:nvPr/>
        </p:nvCxnSpPr>
        <p:spPr>
          <a:xfrm flipV="1">
            <a:off x="11834255" y="1116083"/>
            <a:ext cx="204450" cy="30624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箭头: 下 109">
            <a:extLst>
              <a:ext uri="{FF2B5EF4-FFF2-40B4-BE49-F238E27FC236}">
                <a16:creationId xmlns:a16="http://schemas.microsoft.com/office/drawing/2014/main" id="{1CF18F2A-9960-4D67-A68C-2086C58D3900}"/>
              </a:ext>
            </a:extLst>
          </p:cNvPr>
          <p:cNvSpPr/>
          <p:nvPr/>
        </p:nvSpPr>
        <p:spPr>
          <a:xfrm>
            <a:off x="5804943" y="2806889"/>
            <a:ext cx="604867" cy="14739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87054D9F-5386-44FB-B3DC-DBB847D73586}"/>
              </a:ext>
            </a:extLst>
          </p:cNvPr>
          <p:cNvSpPr txBox="1"/>
          <p:nvPr/>
        </p:nvSpPr>
        <p:spPr>
          <a:xfrm flipH="1">
            <a:off x="6236500" y="3165614"/>
            <a:ext cx="3303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：缪子信号预处理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EFAB4202-5514-451D-877B-3FAA6792A3B2}"/>
              </a:ext>
            </a:extLst>
          </p:cNvPr>
          <p:cNvSpPr/>
          <p:nvPr/>
        </p:nvSpPr>
        <p:spPr>
          <a:xfrm>
            <a:off x="48389" y="182880"/>
            <a:ext cx="12085191" cy="2426176"/>
          </a:xfrm>
          <a:prstGeom prst="roundRect">
            <a:avLst>
              <a:gd name="adj" fmla="val 6617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8C52C743-28B7-4AC2-A39C-E21EEA96443B}"/>
              </a:ext>
            </a:extLst>
          </p:cNvPr>
          <p:cNvSpPr/>
          <p:nvPr/>
        </p:nvSpPr>
        <p:spPr>
          <a:xfrm>
            <a:off x="523135" y="4438393"/>
            <a:ext cx="11168485" cy="2254507"/>
          </a:xfrm>
          <a:prstGeom prst="roundRect">
            <a:avLst>
              <a:gd name="adj" fmla="val 6617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06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6D474F-C5CF-4285-8123-0801A345FDFF}"/>
              </a:ext>
            </a:extLst>
          </p:cNvPr>
          <p:cNvSpPr/>
          <p:nvPr/>
        </p:nvSpPr>
        <p:spPr>
          <a:xfrm>
            <a:off x="4592320" y="-386080"/>
            <a:ext cx="17272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原始数据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EE4696D-80F3-40B6-99AF-D31907F2AFCA}"/>
              </a:ext>
            </a:extLst>
          </p:cNvPr>
          <p:cNvSpPr/>
          <p:nvPr/>
        </p:nvSpPr>
        <p:spPr>
          <a:xfrm>
            <a:off x="4592320" y="640080"/>
            <a:ext cx="17272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筛选缪子事件并修正能量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BF348B7-071C-4732-8063-54312C54DBA5}"/>
              </a:ext>
            </a:extLst>
          </p:cNvPr>
          <p:cNvSpPr/>
          <p:nvPr/>
        </p:nvSpPr>
        <p:spPr>
          <a:xfrm>
            <a:off x="4592320" y="1666240"/>
            <a:ext cx="17272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计算入射位置与方向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A18BC28-F2C7-4F13-8B24-026D2B59C90D}"/>
              </a:ext>
            </a:extLst>
          </p:cNvPr>
          <p:cNvSpPr/>
          <p:nvPr/>
        </p:nvSpPr>
        <p:spPr>
          <a:xfrm>
            <a:off x="4592320" y="2692400"/>
            <a:ext cx="17272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统计计数率分布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E62198F-E815-42EA-A25F-B0F0BFE86249}"/>
              </a:ext>
            </a:extLst>
          </p:cNvPr>
          <p:cNvSpPr/>
          <p:nvPr/>
        </p:nvSpPr>
        <p:spPr>
          <a:xfrm>
            <a:off x="4592320" y="3718560"/>
            <a:ext cx="17272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计算缪子存活率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50AE061-4976-43D5-8909-3D7B31DB3BFC}"/>
              </a:ext>
            </a:extLst>
          </p:cNvPr>
          <p:cNvSpPr/>
          <p:nvPr/>
        </p:nvSpPr>
        <p:spPr>
          <a:xfrm>
            <a:off x="4592320" y="4744720"/>
            <a:ext cx="17272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计算等效长度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8AAC13C-91FC-4201-B8F5-5D3BF102119F}"/>
              </a:ext>
            </a:extLst>
          </p:cNvPr>
          <p:cNvSpPr/>
          <p:nvPr/>
        </p:nvSpPr>
        <p:spPr>
          <a:xfrm>
            <a:off x="4592320" y="5689600"/>
            <a:ext cx="17272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实测值与预测值切片对比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3203652-61CE-4E03-AFE4-26ADCBB7BCC2}"/>
              </a:ext>
            </a:extLst>
          </p:cNvPr>
          <p:cNvSpPr/>
          <p:nvPr/>
        </p:nvSpPr>
        <p:spPr>
          <a:xfrm>
            <a:off x="4592320" y="6634480"/>
            <a:ext cx="17272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输出等效长度为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obs.dat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F850D4-5E20-44CE-BBB9-0803E6582735}"/>
              </a:ext>
            </a:extLst>
          </p:cNvPr>
          <p:cNvSpPr/>
          <p:nvPr/>
        </p:nvSpPr>
        <p:spPr>
          <a:xfrm>
            <a:off x="7752080" y="6644640"/>
            <a:ext cx="2461501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用于后续反演分析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8FEC1C1-4D51-4E38-9D8D-2F0CCF500576}"/>
              </a:ext>
            </a:extLst>
          </p:cNvPr>
          <p:cNvSpPr/>
          <p:nvPr/>
        </p:nvSpPr>
        <p:spPr>
          <a:xfrm>
            <a:off x="7752080" y="5689600"/>
            <a:ext cx="2461501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调整物理模型参数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AB09E8-1A87-407C-B958-F6491917541F}"/>
              </a:ext>
            </a:extLst>
          </p:cNvPr>
          <p:cNvSpPr/>
          <p:nvPr/>
        </p:nvSpPr>
        <p:spPr>
          <a:xfrm>
            <a:off x="978763" y="4744720"/>
            <a:ext cx="3058160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各探测点方向缪子穿过等效长度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1F6DBF-7AF5-45B2-BBE3-BEBB8AE1DFA7}"/>
              </a:ext>
            </a:extLst>
          </p:cNvPr>
          <p:cNvSpPr/>
          <p:nvPr/>
        </p:nvSpPr>
        <p:spPr>
          <a:xfrm>
            <a:off x="6771640" y="3718560"/>
            <a:ext cx="181864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伴随数据自洽性检验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E7530F-98FE-4567-98EA-37BFF493D082}"/>
              </a:ext>
            </a:extLst>
          </p:cNvPr>
          <p:cNvSpPr/>
          <p:nvPr/>
        </p:nvSpPr>
        <p:spPr>
          <a:xfrm>
            <a:off x="2321560" y="2687319"/>
            <a:ext cx="181864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伴随数据自洽性检验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384499-FC4C-4FB6-BD6A-0A5DF3D75CA2}"/>
              </a:ext>
            </a:extLst>
          </p:cNvPr>
          <p:cNvSpPr/>
          <p:nvPr/>
        </p:nvSpPr>
        <p:spPr>
          <a:xfrm>
            <a:off x="7752080" y="1666240"/>
            <a:ext cx="2461501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基于闪烁体能量沉积关系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确定各平板入射位置与轨迹方向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6DD03F-9385-46DD-AFCB-3400F518CCE1}"/>
              </a:ext>
            </a:extLst>
          </p:cNvPr>
          <p:cNvSpPr/>
          <p:nvPr/>
        </p:nvSpPr>
        <p:spPr>
          <a:xfrm>
            <a:off x="7752080" y="2457331"/>
            <a:ext cx="2461501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区分缪子本底与实测数据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526AEE-2675-4C12-B741-47F8DB90A262}"/>
              </a:ext>
            </a:extLst>
          </p:cNvPr>
          <p:cNvSpPr/>
          <p:nvPr/>
        </p:nvSpPr>
        <p:spPr>
          <a:xfrm>
            <a:off x="7752080" y="640080"/>
            <a:ext cx="2461501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剔除误触发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符合失误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修正闪烁体能量沉积（信噪比、增益校正）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D790C7F-C0F8-4D08-8A3F-90DD11BCA9EF}"/>
              </a:ext>
            </a:extLst>
          </p:cNvPr>
          <p:cNvCxnSpPr>
            <a:stCxn id="9" idx="1"/>
            <a:endCxn id="18" idx="3"/>
          </p:cNvCxnSpPr>
          <p:nvPr/>
        </p:nvCxnSpPr>
        <p:spPr>
          <a:xfrm flipH="1" flipV="1">
            <a:off x="4140200" y="3007359"/>
            <a:ext cx="452120" cy="508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5B5DF123-8D71-4F1A-AFE0-F6C3DE411135}"/>
              </a:ext>
            </a:extLst>
          </p:cNvPr>
          <p:cNvCxnSpPr>
            <a:stCxn id="18" idx="0"/>
            <a:endCxn id="7" idx="1"/>
          </p:cNvCxnSpPr>
          <p:nvPr/>
        </p:nvCxnSpPr>
        <p:spPr>
          <a:xfrm rot="5400000" flipH="1" flipV="1">
            <a:off x="3048001" y="1143000"/>
            <a:ext cx="1727199" cy="1361440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C17F25B-ADD0-4906-8B3B-8DD92D493299}"/>
              </a:ext>
            </a:extLst>
          </p:cNvPr>
          <p:cNvSpPr txBox="1"/>
          <p:nvPr/>
        </p:nvSpPr>
        <p:spPr>
          <a:xfrm>
            <a:off x="3357602" y="6314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回溯修正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8C01AD0-EE85-4640-B960-DFE30AFFC120}"/>
              </a:ext>
            </a:extLst>
          </p:cNvPr>
          <p:cNvCxnSpPr>
            <a:stCxn id="10" idx="3"/>
            <a:endCxn id="17" idx="1"/>
          </p:cNvCxnSpPr>
          <p:nvPr/>
        </p:nvCxnSpPr>
        <p:spPr>
          <a:xfrm>
            <a:off x="6319520" y="4038600"/>
            <a:ext cx="45212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EB790165-937F-45CB-9D75-195F0D5BEA0C}"/>
              </a:ext>
            </a:extLst>
          </p:cNvPr>
          <p:cNvCxnSpPr>
            <a:stCxn id="17" idx="0"/>
            <a:endCxn id="9" idx="3"/>
          </p:cNvCxnSpPr>
          <p:nvPr/>
        </p:nvCxnSpPr>
        <p:spPr>
          <a:xfrm rot="16200000" flipV="1">
            <a:off x="6647180" y="2684780"/>
            <a:ext cx="706120" cy="1361440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D93B2CBD-234A-4E1C-95E1-9E5CA70E8A0C}"/>
              </a:ext>
            </a:extLst>
          </p:cNvPr>
          <p:cNvSpPr txBox="1"/>
          <p:nvPr/>
        </p:nvSpPr>
        <p:spPr>
          <a:xfrm>
            <a:off x="6446242" y="265465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回溯修正</a:t>
            </a: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33343AD8-FF30-4520-B499-79586020BA18}"/>
              </a:ext>
            </a:extLst>
          </p:cNvPr>
          <p:cNvCxnSpPr>
            <a:stCxn id="18" idx="2"/>
            <a:endCxn id="10" idx="1"/>
          </p:cNvCxnSpPr>
          <p:nvPr/>
        </p:nvCxnSpPr>
        <p:spPr>
          <a:xfrm rot="16200000" flipH="1">
            <a:off x="3556000" y="3002279"/>
            <a:ext cx="711201" cy="1361440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6297D9AF-1C09-485B-8641-74BB669EBA26}"/>
              </a:ext>
            </a:extLst>
          </p:cNvPr>
          <p:cNvCxnSpPr>
            <a:cxnSpLocks/>
            <a:stCxn id="17" idx="2"/>
            <a:endCxn id="11" idx="3"/>
          </p:cNvCxnSpPr>
          <p:nvPr/>
        </p:nvCxnSpPr>
        <p:spPr>
          <a:xfrm rot="5400000">
            <a:off x="6647180" y="4030980"/>
            <a:ext cx="706120" cy="1361440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F0A09E5E-0D0B-4042-8AB6-12207EC247EB}"/>
              </a:ext>
            </a:extLst>
          </p:cNvPr>
          <p:cNvSpPr txBox="1"/>
          <p:nvPr/>
        </p:nvSpPr>
        <p:spPr>
          <a:xfrm>
            <a:off x="3159760" y="213332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不通过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EA67F68-CC66-4D9D-8F3D-FE45C0734F17}"/>
              </a:ext>
            </a:extLst>
          </p:cNvPr>
          <p:cNvSpPr txBox="1"/>
          <p:nvPr/>
        </p:nvSpPr>
        <p:spPr>
          <a:xfrm>
            <a:off x="3193564" y="33934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通过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1D7DCF6-5BAC-4482-AF2A-E9160E59CA6F}"/>
              </a:ext>
            </a:extLst>
          </p:cNvPr>
          <p:cNvSpPr txBox="1"/>
          <p:nvPr/>
        </p:nvSpPr>
        <p:spPr>
          <a:xfrm>
            <a:off x="6903189" y="33002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不通过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C16EEED-F1ED-4193-97F5-FA735167C115}"/>
              </a:ext>
            </a:extLst>
          </p:cNvPr>
          <p:cNvSpPr txBox="1"/>
          <p:nvPr/>
        </p:nvSpPr>
        <p:spPr>
          <a:xfrm>
            <a:off x="7134021" y="44051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通过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978368A7-2732-48BF-BA71-553B8697FEA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455920" y="254000"/>
            <a:ext cx="0" cy="3860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10AA402-6F12-4839-A4F5-2BE1036E259F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455920" y="1280160"/>
            <a:ext cx="0" cy="3860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F0A5C893-7976-47A3-8FDC-AE3EB8CFB42C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5455920" y="2306320"/>
            <a:ext cx="0" cy="3860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821C61A9-4224-4975-87EA-96F49DEC8E7B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5455920" y="5384800"/>
            <a:ext cx="0" cy="304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CC919E9C-2DB4-4700-9AA8-F51D040477A8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455920" y="6329680"/>
            <a:ext cx="0" cy="304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E49322A1-5626-4FC8-861A-86BFAF78B232}"/>
              </a:ext>
            </a:extLst>
          </p:cNvPr>
          <p:cNvCxnSpPr>
            <a:stCxn id="22" idx="1"/>
            <a:endCxn id="7" idx="3"/>
          </p:cNvCxnSpPr>
          <p:nvPr/>
        </p:nvCxnSpPr>
        <p:spPr>
          <a:xfrm flipH="1">
            <a:off x="6319520" y="960120"/>
            <a:ext cx="1432560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58D4FBF1-C7BF-4C59-B64C-70023903DEB4}"/>
              </a:ext>
            </a:extLst>
          </p:cNvPr>
          <p:cNvCxnSpPr>
            <a:stCxn id="16" idx="3"/>
            <a:endCxn id="11" idx="1"/>
          </p:cNvCxnSpPr>
          <p:nvPr/>
        </p:nvCxnSpPr>
        <p:spPr>
          <a:xfrm>
            <a:off x="4036923" y="5064760"/>
            <a:ext cx="555397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61693930-67AF-453C-A486-8820DB9F59AA}"/>
              </a:ext>
            </a:extLst>
          </p:cNvPr>
          <p:cNvCxnSpPr>
            <a:stCxn id="20" idx="1"/>
            <a:endCxn id="8" idx="3"/>
          </p:cNvCxnSpPr>
          <p:nvPr/>
        </p:nvCxnSpPr>
        <p:spPr>
          <a:xfrm flipH="1">
            <a:off x="6319520" y="1986280"/>
            <a:ext cx="1432560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C31DB2FB-56EB-4223-A61C-C7C852D2D42D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6319520" y="2777371"/>
            <a:ext cx="1432560" cy="10398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625C2719-1162-4DCE-8392-A52DEB0000C2}"/>
              </a:ext>
            </a:extLst>
          </p:cNvPr>
          <p:cNvCxnSpPr>
            <a:stCxn id="15" idx="1"/>
            <a:endCxn id="12" idx="3"/>
          </p:cNvCxnSpPr>
          <p:nvPr/>
        </p:nvCxnSpPr>
        <p:spPr>
          <a:xfrm flipH="1">
            <a:off x="6319520" y="6009640"/>
            <a:ext cx="1432560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F745664F-0967-458A-AEE2-D7C86AFEEF10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 flipV="1">
            <a:off x="6319520" y="6954520"/>
            <a:ext cx="1432560" cy="1016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01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DD474BD-8F37-4F1D-B6EC-9D28CE5678B5}"/>
              </a:ext>
            </a:extLst>
          </p:cNvPr>
          <p:cNvSpPr/>
          <p:nvPr/>
        </p:nvSpPr>
        <p:spPr>
          <a:xfrm>
            <a:off x="91440" y="90170"/>
            <a:ext cx="2545080" cy="957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FPGA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Data acquisition board 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(DAQ)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4" name="表格 114">
            <a:extLst>
              <a:ext uri="{FF2B5EF4-FFF2-40B4-BE49-F238E27FC236}">
                <a16:creationId xmlns:a16="http://schemas.microsoft.com/office/drawing/2014/main" id="{D9B8F682-A24C-4579-AB32-5276CF997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168637"/>
              </p:ext>
            </p:extLst>
          </p:nvPr>
        </p:nvGraphicFramePr>
        <p:xfrm>
          <a:off x="2725783" y="0"/>
          <a:ext cx="11304264" cy="15198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346">
                  <a:extLst>
                    <a:ext uri="{9D8B030D-6E8A-4147-A177-3AD203B41FA5}">
                      <a16:colId xmlns:a16="http://schemas.microsoft.com/office/drawing/2014/main" val="3604611581"/>
                    </a:ext>
                  </a:extLst>
                </a:gridCol>
                <a:gridCol w="971860">
                  <a:extLst>
                    <a:ext uri="{9D8B030D-6E8A-4147-A177-3AD203B41FA5}">
                      <a16:colId xmlns:a16="http://schemas.microsoft.com/office/drawing/2014/main" val="3787246472"/>
                    </a:ext>
                  </a:extLst>
                </a:gridCol>
                <a:gridCol w="971860">
                  <a:extLst>
                    <a:ext uri="{9D8B030D-6E8A-4147-A177-3AD203B41FA5}">
                      <a16:colId xmlns:a16="http://schemas.microsoft.com/office/drawing/2014/main" val="3834854738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1728198999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853145022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106978696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456749747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542934225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4034610779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690003856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173884988"/>
                    </a:ext>
                  </a:extLst>
                </a:gridCol>
                <a:gridCol w="942022">
                  <a:extLst>
                    <a:ext uri="{9D8B030D-6E8A-4147-A177-3AD203B41FA5}">
                      <a16:colId xmlns:a16="http://schemas.microsoft.com/office/drawing/2014/main" val="3661675920"/>
                    </a:ext>
                  </a:extLst>
                </a:gridCol>
              </a:tblGrid>
              <a:tr h="3616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HEAD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HGain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LGain</a:t>
                      </a:r>
                      <a:endParaRPr lang="zh-CN" altLang="en-US" sz="1400" b="1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BCID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ChipID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Temp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TriggeID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TAIL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TrigDAC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INDAC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TrigMode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BoardID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271295"/>
                  </a:ext>
                </a:extLst>
              </a:tr>
              <a:tr h="301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72Bytes</a:t>
                      </a:r>
                      <a:endParaRPr lang="zh-CN" altLang="en-US" sz="14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2Bytes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524861"/>
                  </a:ext>
                </a:extLst>
              </a:tr>
              <a:tr h="301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0-1  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2-73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74-145</a:t>
                      </a:r>
                      <a:endParaRPr lang="zh-CN" altLang="en-US" sz="14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146-147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148-149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150-151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152-153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154-157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158-159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160-161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162-163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164-165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451896"/>
                  </a:ext>
                </a:extLst>
              </a:tr>
              <a:tr h="301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0xFA5A</a:t>
                      </a:r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{0 0 G H | Charge(12bit)}</a:t>
                      </a:r>
                    </a:p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×36</a:t>
                      </a:r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{0 0 G H | Charge(12bit)}</a:t>
                      </a:r>
                    </a:p>
                    <a:p>
                      <a:pPr algn="ctr"/>
                      <a:r>
                        <a:rPr lang="en-US" altLang="zh-CN" sz="1000" b="1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×36</a:t>
                      </a:r>
                      <a:endParaRPr lang="zh-CN" altLang="en-US" sz="1000" b="1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0xFEEE</a:t>
                      </a:r>
                    </a:p>
                    <a:p>
                      <a:pPr algn="ctr"/>
                      <a:r>
                        <a:rPr lang="en-US" altLang="zh-CN" sz="1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0xFEEE</a:t>
                      </a:r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231690"/>
                  </a:ext>
                </a:extLst>
              </a:tr>
            </a:tbl>
          </a:graphicData>
        </a:graphic>
      </p:graphicFrame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44102793-704F-4ADE-B88E-F5C312603175}"/>
              </a:ext>
            </a:extLst>
          </p:cNvPr>
          <p:cNvSpPr/>
          <p:nvPr/>
        </p:nvSpPr>
        <p:spPr>
          <a:xfrm>
            <a:off x="91440" y="1677787"/>
            <a:ext cx="2545080" cy="957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DatabaseTool-DataLayer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ConnectionTools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2EBA2C8B-A872-4211-9796-140DBDE3400B}"/>
              </a:ext>
            </a:extLst>
          </p:cNvPr>
          <p:cNvCxnSpPr>
            <a:stCxn id="2" idx="2"/>
            <a:endCxn id="118" idx="0"/>
          </p:cNvCxnSpPr>
          <p:nvPr/>
        </p:nvCxnSpPr>
        <p:spPr>
          <a:xfrm>
            <a:off x="1363980" y="1047750"/>
            <a:ext cx="0" cy="630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图片 120">
            <a:extLst>
              <a:ext uri="{FF2B5EF4-FFF2-40B4-BE49-F238E27FC236}">
                <a16:creationId xmlns:a16="http://schemas.microsoft.com/office/drawing/2014/main" id="{3A5BBC27-7C77-4722-8163-50B8FD317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1573764"/>
            <a:ext cx="5793249" cy="1165626"/>
          </a:xfrm>
          <a:prstGeom prst="rect">
            <a:avLst/>
          </a:prstGeom>
        </p:spPr>
      </p:pic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4DA9BB8E-7994-494F-9386-33D490720431}"/>
              </a:ext>
            </a:extLst>
          </p:cNvPr>
          <p:cNvCxnSpPr>
            <a:cxnSpLocks/>
            <a:stCxn id="118" idx="3"/>
            <a:endCxn id="121" idx="1"/>
          </p:cNvCxnSpPr>
          <p:nvPr/>
        </p:nvCxnSpPr>
        <p:spPr>
          <a:xfrm>
            <a:off x="2636520" y="2156577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293F8DD2-10C9-4DC6-A77F-2220E2CD2B4D}"/>
              </a:ext>
            </a:extLst>
          </p:cNvPr>
          <p:cNvSpPr/>
          <p:nvPr/>
        </p:nvSpPr>
        <p:spPr>
          <a:xfrm>
            <a:off x="91440" y="3305193"/>
            <a:ext cx="2545080" cy="957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DatabaseTool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offlineReader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62BFF6BE-260E-4862-920F-8A2CBB52D08F}"/>
              </a:ext>
            </a:extLst>
          </p:cNvPr>
          <p:cNvCxnSpPr>
            <a:cxnSpLocks/>
            <a:stCxn id="118" idx="2"/>
            <a:endCxn id="125" idx="0"/>
          </p:cNvCxnSpPr>
          <p:nvPr/>
        </p:nvCxnSpPr>
        <p:spPr>
          <a:xfrm>
            <a:off x="1363980" y="2635367"/>
            <a:ext cx="0" cy="669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217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4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4481</TotalTime>
  <Words>1274</Words>
  <Application>Microsoft Office PowerPoint</Application>
  <PresentationFormat>宽屏</PresentationFormat>
  <Paragraphs>356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Arial</vt:lpstr>
      <vt:lpstr>Consolas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兴文 周</dc:creator>
  <cp:lastModifiedBy>兴文 周</cp:lastModifiedBy>
  <cp:revision>72</cp:revision>
  <dcterms:created xsi:type="dcterms:W3CDTF">2025-04-14T00:59:05Z</dcterms:created>
  <dcterms:modified xsi:type="dcterms:W3CDTF">2025-04-23T10:07:20Z</dcterms:modified>
</cp:coreProperties>
</file>